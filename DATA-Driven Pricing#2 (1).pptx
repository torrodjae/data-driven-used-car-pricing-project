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8"/>
  </p:notesMasterIdLst>
  <p:handoutMasterIdLst>
    <p:handoutMasterId r:id="rId29"/>
  </p:handoutMasterIdLst>
  <p:sldIdLst>
    <p:sldId id="256" r:id="rId5"/>
    <p:sldId id="278" r:id="rId6"/>
    <p:sldId id="262" r:id="rId7"/>
    <p:sldId id="264" r:id="rId8"/>
    <p:sldId id="263" r:id="rId9"/>
    <p:sldId id="265" r:id="rId10"/>
    <p:sldId id="268" r:id="rId11"/>
    <p:sldId id="266" r:id="rId12"/>
    <p:sldId id="267" r:id="rId13"/>
    <p:sldId id="270" r:id="rId14"/>
    <p:sldId id="272" r:id="rId15"/>
    <p:sldId id="281" r:id="rId16"/>
    <p:sldId id="271" r:id="rId17"/>
    <p:sldId id="273" r:id="rId18"/>
    <p:sldId id="274" r:id="rId19"/>
    <p:sldId id="275" r:id="rId20"/>
    <p:sldId id="276" r:id="rId21"/>
    <p:sldId id="277" r:id="rId22"/>
    <p:sldId id="282" r:id="rId23"/>
    <p:sldId id="280" r:id="rId24"/>
    <p:sldId id="279" r:id="rId25"/>
    <p:sldId id="283" r:id="rId26"/>
    <p:sldId id="26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776B41-0312-41DE-B302-E8DA2B672C4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F73FAB-10A6-49E2-A923-5EA33E085621}">
      <dgm:prSet/>
      <dgm:spPr/>
      <dgm:t>
        <a:bodyPr/>
        <a:lstStyle/>
        <a:p>
          <a:r>
            <a:rPr lang="en-US" b="1" i="0" dirty="0"/>
            <a:t>Problem:</a:t>
          </a:r>
          <a:r>
            <a:rPr lang="en-US" b="0" i="0" dirty="0"/>
            <a:t> The full dataset is too broad and had errors from it’s collection.</a:t>
          </a:r>
          <a:endParaRPr lang="en-US" dirty="0"/>
        </a:p>
      </dgm:t>
    </dgm:pt>
    <dgm:pt modelId="{C975C2F7-BBA2-4593-B6B2-AD5E66BB1B3B}" type="parTrans" cxnId="{DA696FD6-B8C2-4F3E-8D5C-F1648902818B}">
      <dgm:prSet/>
      <dgm:spPr/>
      <dgm:t>
        <a:bodyPr/>
        <a:lstStyle/>
        <a:p>
          <a:endParaRPr lang="en-US"/>
        </a:p>
      </dgm:t>
    </dgm:pt>
    <dgm:pt modelId="{A642F1F7-AB72-4789-906F-4A0488C4386C}" type="sibTrans" cxnId="{DA696FD6-B8C2-4F3E-8D5C-F1648902818B}">
      <dgm:prSet/>
      <dgm:spPr/>
      <dgm:t>
        <a:bodyPr/>
        <a:lstStyle/>
        <a:p>
          <a:endParaRPr lang="en-US"/>
        </a:p>
      </dgm:t>
    </dgm:pt>
    <dgm:pt modelId="{1D69B19B-B3BA-4EDE-A13F-1BB64DD5B93D}">
      <dgm:prSet/>
      <dgm:spPr/>
      <dgm:t>
        <a:bodyPr/>
        <a:lstStyle/>
        <a:p>
          <a:r>
            <a:rPr lang="en-US" b="1" i="0"/>
            <a:t>Solution:</a:t>
          </a:r>
          <a:r>
            <a:rPr lang="en-US" b="0" i="0"/>
            <a:t> I created a focused, clean subset.</a:t>
          </a:r>
          <a:endParaRPr lang="en-US"/>
        </a:p>
      </dgm:t>
    </dgm:pt>
    <dgm:pt modelId="{EAA94F60-EBD3-430E-84A8-895631D7666E}" type="parTrans" cxnId="{9A1DC59B-8CD2-44FF-B9CE-257F40E8B50A}">
      <dgm:prSet/>
      <dgm:spPr/>
      <dgm:t>
        <a:bodyPr/>
        <a:lstStyle/>
        <a:p>
          <a:endParaRPr lang="en-US"/>
        </a:p>
      </dgm:t>
    </dgm:pt>
    <dgm:pt modelId="{98EE870E-4493-4DCC-8451-73936DBD6E50}" type="sibTrans" cxnId="{9A1DC59B-8CD2-44FF-B9CE-257F40E8B50A}">
      <dgm:prSet/>
      <dgm:spPr/>
      <dgm:t>
        <a:bodyPr/>
        <a:lstStyle/>
        <a:p>
          <a:endParaRPr lang="en-US"/>
        </a:p>
      </dgm:t>
    </dgm:pt>
    <dgm:pt modelId="{8BC5C091-56E0-42CB-B541-8452A1DA5CF2}">
      <dgm:prSet/>
      <dgm:spPr/>
      <dgm:t>
        <a:bodyPr/>
        <a:lstStyle/>
        <a:p>
          <a:r>
            <a:rPr lang="en-US" b="1" i="0"/>
            <a:t>Filters Applied:</a:t>
          </a:r>
          <a:endParaRPr lang="en-US"/>
        </a:p>
      </dgm:t>
    </dgm:pt>
    <dgm:pt modelId="{246383D7-C97B-4EB6-B373-EAB41515ADBD}" type="parTrans" cxnId="{23D6584C-7FE9-4A42-8F3F-675D2CF707E4}">
      <dgm:prSet/>
      <dgm:spPr/>
      <dgm:t>
        <a:bodyPr/>
        <a:lstStyle/>
        <a:p>
          <a:endParaRPr lang="en-US"/>
        </a:p>
      </dgm:t>
    </dgm:pt>
    <dgm:pt modelId="{3F479ACE-6300-4CC3-A238-D9E89E0AAF75}" type="sibTrans" cxnId="{23D6584C-7FE9-4A42-8F3F-675D2CF707E4}">
      <dgm:prSet/>
      <dgm:spPr/>
      <dgm:t>
        <a:bodyPr/>
        <a:lstStyle/>
        <a:p>
          <a:endParaRPr lang="en-US"/>
        </a:p>
      </dgm:t>
    </dgm:pt>
    <dgm:pt modelId="{F6B05D8E-5BBD-4567-A375-43E8D8A83090}">
      <dgm:prSet/>
      <dgm:spPr/>
      <dgm:t>
        <a:bodyPr/>
        <a:lstStyle/>
        <a:p>
          <a:r>
            <a:rPr lang="en-US" b="1" i="0" dirty="0"/>
            <a:t>Model Years: 1948 to 2023 </a:t>
          </a:r>
          <a:r>
            <a:rPr lang="en-US" b="0" i="0" dirty="0"/>
            <a:t>(excluded classic cars per Classic Car Club of America guidelines)</a:t>
          </a:r>
          <a:endParaRPr lang="en-US" dirty="0"/>
        </a:p>
      </dgm:t>
    </dgm:pt>
    <dgm:pt modelId="{46547966-F611-4A4D-8A81-D13DBD6B75A2}" type="parTrans" cxnId="{949C4B60-FBC8-4CF9-B18E-AB33654C99F5}">
      <dgm:prSet/>
      <dgm:spPr/>
      <dgm:t>
        <a:bodyPr/>
        <a:lstStyle/>
        <a:p>
          <a:endParaRPr lang="en-US"/>
        </a:p>
      </dgm:t>
    </dgm:pt>
    <dgm:pt modelId="{C6859315-FAB0-4D6A-A491-448278A34AFF}" type="sibTrans" cxnId="{949C4B60-FBC8-4CF9-B18E-AB33654C99F5}">
      <dgm:prSet/>
      <dgm:spPr/>
      <dgm:t>
        <a:bodyPr/>
        <a:lstStyle/>
        <a:p>
          <a:endParaRPr lang="en-US"/>
        </a:p>
      </dgm:t>
    </dgm:pt>
    <dgm:pt modelId="{279CF2DB-EDBF-4092-A3F9-7ACE212D64CD}">
      <dgm:prSet/>
      <dgm:spPr/>
      <dgm:t>
        <a:bodyPr/>
        <a:lstStyle/>
        <a:p>
          <a:r>
            <a:rPr lang="en-US" b="1" i="0"/>
            <a:t>Result:</a:t>
          </a:r>
          <a:r>
            <a:rPr lang="en-US" b="0" i="0"/>
            <a:t> A higher-quality dataset for accurate analysis.</a:t>
          </a:r>
          <a:endParaRPr lang="en-US"/>
        </a:p>
      </dgm:t>
    </dgm:pt>
    <dgm:pt modelId="{9DF94C1D-F212-42AC-8210-345A45C84D32}" type="parTrans" cxnId="{7D02A122-3B2B-478C-95A3-49C9C38F1327}">
      <dgm:prSet/>
      <dgm:spPr/>
      <dgm:t>
        <a:bodyPr/>
        <a:lstStyle/>
        <a:p>
          <a:endParaRPr lang="en-US"/>
        </a:p>
      </dgm:t>
    </dgm:pt>
    <dgm:pt modelId="{AF6A4FA5-B7DC-4352-BBCD-0FEB5B1AFF33}" type="sibTrans" cxnId="{7D02A122-3B2B-478C-95A3-49C9C38F1327}">
      <dgm:prSet/>
      <dgm:spPr/>
      <dgm:t>
        <a:bodyPr/>
        <a:lstStyle/>
        <a:p>
          <a:endParaRPr lang="en-US"/>
        </a:p>
      </dgm:t>
    </dgm:pt>
    <dgm:pt modelId="{236040E6-98B5-41E9-BA33-5135AD016A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Price: $500 to $90,000 </a:t>
          </a:r>
          <a:r>
            <a:rPr lang="en-US" b="0" i="0" dirty="0"/>
            <a:t>(focused on mainstream market, excluded larger outliers caused by classics)</a:t>
          </a:r>
        </a:p>
      </dgm:t>
    </dgm:pt>
    <dgm:pt modelId="{500FD881-4770-4292-A03D-AAEE209B0C96}" type="parTrans" cxnId="{7B40D8A6-4959-4D66-A1D4-6EF599C716C6}">
      <dgm:prSet/>
      <dgm:spPr/>
      <dgm:t>
        <a:bodyPr/>
        <a:lstStyle/>
        <a:p>
          <a:endParaRPr lang="en-US"/>
        </a:p>
      </dgm:t>
    </dgm:pt>
    <dgm:pt modelId="{BF79CA09-8279-4AA6-B53E-74A0189D5622}" type="sibTrans" cxnId="{7B40D8A6-4959-4D66-A1D4-6EF599C716C6}">
      <dgm:prSet/>
      <dgm:spPr/>
      <dgm:t>
        <a:bodyPr/>
        <a:lstStyle/>
        <a:p>
          <a:endParaRPr lang="en-US"/>
        </a:p>
      </dgm:t>
    </dgm:pt>
    <dgm:pt modelId="{9E856397-BF90-42E9-92AA-8D3FD17060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Dropped rows missing critical data </a:t>
          </a:r>
          <a:r>
            <a:rPr lang="en-US" b="0" i="0" dirty="0"/>
            <a:t>(price, manufacturer, year, odometer)</a:t>
          </a:r>
        </a:p>
      </dgm:t>
    </dgm:pt>
    <dgm:pt modelId="{15114F2B-255F-4B95-A9B8-A992C9EE74A5}" type="parTrans" cxnId="{8138C007-BAEC-44B0-98DB-F550A5FCB3D5}">
      <dgm:prSet/>
      <dgm:spPr/>
      <dgm:t>
        <a:bodyPr/>
        <a:lstStyle/>
        <a:p>
          <a:endParaRPr lang="en-US"/>
        </a:p>
      </dgm:t>
    </dgm:pt>
    <dgm:pt modelId="{522510CF-1F03-4825-9426-304C9A2C3E3B}" type="sibTrans" cxnId="{8138C007-BAEC-44B0-98DB-F550A5FCB3D5}">
      <dgm:prSet/>
      <dgm:spPr/>
      <dgm:t>
        <a:bodyPr/>
        <a:lstStyle/>
        <a:p>
          <a:endParaRPr lang="en-US"/>
        </a:p>
      </dgm:t>
    </dgm:pt>
    <dgm:pt modelId="{EA7D939D-E95A-452E-83A2-50DB5B4157A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Removed unrealistic odometer readings </a:t>
          </a:r>
          <a:r>
            <a:rPr lang="en-US" b="0" i="0" dirty="0"/>
            <a:t>(&gt; 0 miles)</a:t>
          </a:r>
        </a:p>
      </dgm:t>
    </dgm:pt>
    <dgm:pt modelId="{4D88BAD2-3B2B-4B5A-90C3-DCDDA456D274}" type="parTrans" cxnId="{85FBD43B-41C1-4F31-8852-11725C470D33}">
      <dgm:prSet/>
      <dgm:spPr/>
      <dgm:t>
        <a:bodyPr/>
        <a:lstStyle/>
        <a:p>
          <a:endParaRPr lang="en-US"/>
        </a:p>
      </dgm:t>
    </dgm:pt>
    <dgm:pt modelId="{07A7CEC2-CD33-4B1C-99A2-E77D3322E381}" type="sibTrans" cxnId="{85FBD43B-41C1-4F31-8852-11725C470D33}">
      <dgm:prSet/>
      <dgm:spPr/>
      <dgm:t>
        <a:bodyPr/>
        <a:lstStyle/>
        <a:p>
          <a:endParaRPr lang="en-US"/>
        </a:p>
      </dgm:t>
    </dgm:pt>
    <dgm:pt modelId="{301251F9-4A44-49E1-8B36-7E50A146D0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Standardized text fields </a:t>
          </a:r>
          <a:r>
            <a:rPr lang="en-US" b="0" i="0" dirty="0"/>
            <a:t>(manufacturer, model names to lowercase)</a:t>
          </a:r>
        </a:p>
      </dgm:t>
    </dgm:pt>
    <dgm:pt modelId="{6576F752-337C-4791-9E20-A2EC142517E6}" type="parTrans" cxnId="{DAE2CC61-A6DB-463E-8D1F-F471CD3F2847}">
      <dgm:prSet/>
      <dgm:spPr/>
      <dgm:t>
        <a:bodyPr/>
        <a:lstStyle/>
        <a:p>
          <a:endParaRPr lang="en-US"/>
        </a:p>
      </dgm:t>
    </dgm:pt>
    <dgm:pt modelId="{4ECB931C-E480-4173-B0B2-47BDE8E87CA9}" type="sibTrans" cxnId="{DAE2CC61-A6DB-463E-8D1F-F471CD3F2847}">
      <dgm:prSet/>
      <dgm:spPr/>
      <dgm:t>
        <a:bodyPr/>
        <a:lstStyle/>
        <a:p>
          <a:endParaRPr lang="en-US"/>
        </a:p>
      </dgm:t>
    </dgm:pt>
    <dgm:pt modelId="{5DC7606E-ECEF-42AB-AD9E-515E966569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Consolidated condition categories </a:t>
          </a:r>
          <a:r>
            <a:rPr lang="en-US" b="0" i="0" dirty="0"/>
            <a:t>from 8+ values to 5 clear levels (fair, salvage,.</a:t>
          </a:r>
          <a:r>
            <a:rPr lang="en-US" b="0" i="0" dirty="0" err="1"/>
            <a:t>etc</a:t>
          </a:r>
          <a:r>
            <a:rPr lang="en-US" b="0" i="0" dirty="0"/>
            <a:t>)</a:t>
          </a:r>
        </a:p>
      </dgm:t>
    </dgm:pt>
    <dgm:pt modelId="{2C2511EF-4113-46BC-B639-1711F5D1E47C}" type="parTrans" cxnId="{5EF64D92-6E05-4FE1-B542-62872C855991}">
      <dgm:prSet/>
      <dgm:spPr/>
      <dgm:t>
        <a:bodyPr/>
        <a:lstStyle/>
        <a:p>
          <a:endParaRPr lang="en-US"/>
        </a:p>
      </dgm:t>
    </dgm:pt>
    <dgm:pt modelId="{B4086467-F215-4DBF-88E1-76D9E8364B83}" type="sibTrans" cxnId="{5EF64D92-6E05-4FE1-B542-62872C855991}">
      <dgm:prSet/>
      <dgm:spPr/>
      <dgm:t>
        <a:bodyPr/>
        <a:lstStyle/>
        <a:p>
          <a:endParaRPr lang="en-US"/>
        </a:p>
      </dgm:t>
    </dgm:pt>
    <dgm:pt modelId="{59AE7429-1B83-478D-A12B-E7D18EDC7B3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Converted variables to proper data types </a:t>
          </a:r>
          <a:r>
            <a:rPr lang="en-US" b="0" i="0" dirty="0"/>
            <a:t>(price, year, odometer to numeric)</a:t>
          </a:r>
        </a:p>
      </dgm:t>
    </dgm:pt>
    <dgm:pt modelId="{92BA202F-B68D-4A23-B6F7-026A24F07302}" type="parTrans" cxnId="{1E8B0E40-9262-424C-AAD2-5A47C337F1C1}">
      <dgm:prSet/>
      <dgm:spPr/>
      <dgm:t>
        <a:bodyPr/>
        <a:lstStyle/>
        <a:p>
          <a:endParaRPr lang="en-US"/>
        </a:p>
      </dgm:t>
    </dgm:pt>
    <dgm:pt modelId="{F7AD7773-B4BD-4974-8F9B-5CEC769A5B2F}" type="sibTrans" cxnId="{1E8B0E40-9262-424C-AAD2-5A47C337F1C1}">
      <dgm:prSet/>
      <dgm:spPr/>
      <dgm:t>
        <a:bodyPr/>
        <a:lstStyle/>
        <a:p>
          <a:endParaRPr lang="en-US"/>
        </a:p>
      </dgm:t>
    </dgm:pt>
    <dgm:pt modelId="{3E5C0678-C2AD-4316-800A-1BC7AEC3B4F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 dirty="0"/>
            <a:t>Consolidated vehicle type </a:t>
          </a:r>
          <a:r>
            <a:rPr lang="en-US" b="0" i="0" dirty="0"/>
            <a:t>names that tripped up data (mini-van and minivan)</a:t>
          </a:r>
        </a:p>
      </dgm:t>
    </dgm:pt>
    <dgm:pt modelId="{5D72C7A7-9A9E-4D78-9FC9-0493BC0CF826}" type="parTrans" cxnId="{6539D160-7526-4289-9FB5-83F33B726B46}">
      <dgm:prSet/>
      <dgm:spPr/>
      <dgm:t>
        <a:bodyPr/>
        <a:lstStyle/>
        <a:p>
          <a:endParaRPr lang="en-US"/>
        </a:p>
      </dgm:t>
    </dgm:pt>
    <dgm:pt modelId="{E4C4B294-0002-46D1-A6E3-E84B3BF7F78D}" type="sibTrans" cxnId="{6539D160-7526-4289-9FB5-83F33B726B46}">
      <dgm:prSet/>
      <dgm:spPr/>
      <dgm:t>
        <a:bodyPr/>
        <a:lstStyle/>
        <a:p>
          <a:endParaRPr lang="en-US"/>
        </a:p>
      </dgm:t>
    </dgm:pt>
    <dgm:pt modelId="{61716F00-7E15-4379-A8E7-98E5D4AE8077}" type="pres">
      <dgm:prSet presAssocID="{D1776B41-0312-41DE-B302-E8DA2B672C42}" presName="linear" presStyleCnt="0">
        <dgm:presLayoutVars>
          <dgm:animLvl val="lvl"/>
          <dgm:resizeHandles val="exact"/>
        </dgm:presLayoutVars>
      </dgm:prSet>
      <dgm:spPr/>
    </dgm:pt>
    <dgm:pt modelId="{89FD896D-FB6C-4520-885B-E6AEBC5B2D41}" type="pres">
      <dgm:prSet presAssocID="{C0F73FAB-10A6-49E2-A923-5EA33E08562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CA0499F-0451-4D92-82E5-C3C90C1E448D}" type="pres">
      <dgm:prSet presAssocID="{A642F1F7-AB72-4789-906F-4A0488C4386C}" presName="spacer" presStyleCnt="0"/>
      <dgm:spPr/>
    </dgm:pt>
    <dgm:pt modelId="{3796FC02-08D2-4983-9868-271BDE96E4FB}" type="pres">
      <dgm:prSet presAssocID="{1D69B19B-B3BA-4EDE-A13F-1BB64DD5B9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DDEF6AD-FA7E-4175-8E30-618B5B9A5A9F}" type="pres">
      <dgm:prSet presAssocID="{98EE870E-4493-4DCC-8451-73936DBD6E50}" presName="spacer" presStyleCnt="0"/>
      <dgm:spPr/>
    </dgm:pt>
    <dgm:pt modelId="{E08E2443-5689-4814-BAF6-9202F836ABDA}" type="pres">
      <dgm:prSet presAssocID="{8BC5C091-56E0-42CB-B541-8452A1DA5CF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B70AD4A-86DF-49CD-BAE2-C679F00FD75F}" type="pres">
      <dgm:prSet presAssocID="{8BC5C091-56E0-42CB-B541-8452A1DA5CF2}" presName="childText" presStyleLbl="revTx" presStyleIdx="0" presStyleCnt="1">
        <dgm:presLayoutVars>
          <dgm:bulletEnabled val="1"/>
        </dgm:presLayoutVars>
      </dgm:prSet>
      <dgm:spPr/>
    </dgm:pt>
    <dgm:pt modelId="{5107E86B-35F6-431C-8104-17B491CE061D}" type="pres">
      <dgm:prSet presAssocID="{279CF2DB-EDBF-4092-A3F9-7ACE212D64C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138C007-BAEC-44B0-98DB-F550A5FCB3D5}" srcId="{8BC5C091-56E0-42CB-B541-8452A1DA5CF2}" destId="{9E856397-BF90-42E9-92AA-8D3FD1706042}" srcOrd="2" destOrd="0" parTransId="{15114F2B-255F-4B95-A9B8-A992C9EE74A5}" sibTransId="{522510CF-1F03-4825-9426-304C9A2C3E3B}"/>
    <dgm:cxn modelId="{E9A4500A-DCA8-43F9-B91E-417C53E2D460}" type="presOf" srcId="{1D69B19B-B3BA-4EDE-A13F-1BB64DD5B93D}" destId="{3796FC02-08D2-4983-9868-271BDE96E4FB}" srcOrd="0" destOrd="0" presId="urn:microsoft.com/office/officeart/2005/8/layout/vList2"/>
    <dgm:cxn modelId="{5EEB4120-AC2F-41EA-B44D-0DB9D86E8CD8}" type="presOf" srcId="{9E856397-BF90-42E9-92AA-8D3FD1706042}" destId="{EB70AD4A-86DF-49CD-BAE2-C679F00FD75F}" srcOrd="0" destOrd="2" presId="urn:microsoft.com/office/officeart/2005/8/layout/vList2"/>
    <dgm:cxn modelId="{7D02A122-3B2B-478C-95A3-49C9C38F1327}" srcId="{D1776B41-0312-41DE-B302-E8DA2B672C42}" destId="{279CF2DB-EDBF-4092-A3F9-7ACE212D64CD}" srcOrd="3" destOrd="0" parTransId="{9DF94C1D-F212-42AC-8210-345A45C84D32}" sibTransId="{AF6A4FA5-B7DC-4352-BBCD-0FEB5B1AFF33}"/>
    <dgm:cxn modelId="{A008C728-3780-4A5C-AA77-34D07BE6838A}" type="presOf" srcId="{D1776B41-0312-41DE-B302-E8DA2B672C42}" destId="{61716F00-7E15-4379-A8E7-98E5D4AE8077}" srcOrd="0" destOrd="0" presId="urn:microsoft.com/office/officeart/2005/8/layout/vList2"/>
    <dgm:cxn modelId="{10586731-2B40-4DBE-BEC0-1D0E75E90E84}" type="presOf" srcId="{EA7D939D-E95A-452E-83A2-50DB5B4157AC}" destId="{EB70AD4A-86DF-49CD-BAE2-C679F00FD75F}" srcOrd="0" destOrd="3" presId="urn:microsoft.com/office/officeart/2005/8/layout/vList2"/>
    <dgm:cxn modelId="{85FBD43B-41C1-4F31-8852-11725C470D33}" srcId="{8BC5C091-56E0-42CB-B541-8452A1DA5CF2}" destId="{EA7D939D-E95A-452E-83A2-50DB5B4157AC}" srcOrd="3" destOrd="0" parTransId="{4D88BAD2-3B2B-4B5A-90C3-DCDDA456D274}" sibTransId="{07A7CEC2-CD33-4B1C-99A2-E77D3322E381}"/>
    <dgm:cxn modelId="{1E8B0E40-9262-424C-AAD2-5A47C337F1C1}" srcId="{8BC5C091-56E0-42CB-B541-8452A1DA5CF2}" destId="{59AE7429-1B83-478D-A12B-E7D18EDC7B30}" srcOrd="7" destOrd="0" parTransId="{92BA202F-B68D-4A23-B6F7-026A24F07302}" sibTransId="{F7AD7773-B4BD-4974-8F9B-5CEC769A5B2F}"/>
    <dgm:cxn modelId="{949C4B60-FBC8-4CF9-B18E-AB33654C99F5}" srcId="{8BC5C091-56E0-42CB-B541-8452A1DA5CF2}" destId="{F6B05D8E-5BBD-4567-A375-43E8D8A83090}" srcOrd="0" destOrd="0" parTransId="{46547966-F611-4A4D-8A81-D13DBD6B75A2}" sibTransId="{C6859315-FAB0-4D6A-A491-448278A34AFF}"/>
    <dgm:cxn modelId="{6539D160-7526-4289-9FB5-83F33B726B46}" srcId="{8BC5C091-56E0-42CB-B541-8452A1DA5CF2}" destId="{3E5C0678-C2AD-4316-800A-1BC7AEC3B4F5}" srcOrd="5" destOrd="0" parTransId="{5D72C7A7-9A9E-4D78-9FC9-0493BC0CF826}" sibTransId="{E4C4B294-0002-46D1-A6E3-E84B3BF7F78D}"/>
    <dgm:cxn modelId="{DAE2CC61-A6DB-463E-8D1F-F471CD3F2847}" srcId="{8BC5C091-56E0-42CB-B541-8452A1DA5CF2}" destId="{301251F9-4A44-49E1-8B36-7E50A146D0A0}" srcOrd="4" destOrd="0" parTransId="{6576F752-337C-4791-9E20-A2EC142517E6}" sibTransId="{4ECB931C-E480-4173-B0B2-47BDE8E87CA9}"/>
    <dgm:cxn modelId="{23D6584C-7FE9-4A42-8F3F-675D2CF707E4}" srcId="{D1776B41-0312-41DE-B302-E8DA2B672C42}" destId="{8BC5C091-56E0-42CB-B541-8452A1DA5CF2}" srcOrd="2" destOrd="0" parTransId="{246383D7-C97B-4EB6-B373-EAB41515ADBD}" sibTransId="{3F479ACE-6300-4CC3-A238-D9E89E0AAF75}"/>
    <dgm:cxn modelId="{9E53FA71-E066-42A3-8C91-896977D946DC}" type="presOf" srcId="{236040E6-98B5-41E9-BA33-5135AD016AFC}" destId="{EB70AD4A-86DF-49CD-BAE2-C679F00FD75F}" srcOrd="0" destOrd="1" presId="urn:microsoft.com/office/officeart/2005/8/layout/vList2"/>
    <dgm:cxn modelId="{C3A44953-3A30-43C3-BE6C-9763C61C74E3}" type="presOf" srcId="{279CF2DB-EDBF-4092-A3F9-7ACE212D64CD}" destId="{5107E86B-35F6-431C-8104-17B491CE061D}" srcOrd="0" destOrd="0" presId="urn:microsoft.com/office/officeart/2005/8/layout/vList2"/>
    <dgm:cxn modelId="{ED84897F-48D9-4808-AA55-61658034C316}" type="presOf" srcId="{3E5C0678-C2AD-4316-800A-1BC7AEC3B4F5}" destId="{EB70AD4A-86DF-49CD-BAE2-C679F00FD75F}" srcOrd="0" destOrd="5" presId="urn:microsoft.com/office/officeart/2005/8/layout/vList2"/>
    <dgm:cxn modelId="{5EF64D92-6E05-4FE1-B542-62872C855991}" srcId="{8BC5C091-56E0-42CB-B541-8452A1DA5CF2}" destId="{5DC7606E-ECEF-42AB-AD9E-515E9665696A}" srcOrd="6" destOrd="0" parTransId="{2C2511EF-4113-46BC-B639-1711F5D1E47C}" sibTransId="{B4086467-F215-4DBF-88E1-76D9E8364B83}"/>
    <dgm:cxn modelId="{9A1DC59B-8CD2-44FF-B9CE-257F40E8B50A}" srcId="{D1776B41-0312-41DE-B302-E8DA2B672C42}" destId="{1D69B19B-B3BA-4EDE-A13F-1BB64DD5B93D}" srcOrd="1" destOrd="0" parTransId="{EAA94F60-EBD3-430E-84A8-895631D7666E}" sibTransId="{98EE870E-4493-4DCC-8451-73936DBD6E50}"/>
    <dgm:cxn modelId="{7B40D8A6-4959-4D66-A1D4-6EF599C716C6}" srcId="{8BC5C091-56E0-42CB-B541-8452A1DA5CF2}" destId="{236040E6-98B5-41E9-BA33-5135AD016AFC}" srcOrd="1" destOrd="0" parTransId="{500FD881-4770-4292-A03D-AAEE209B0C96}" sibTransId="{BF79CA09-8279-4AA6-B53E-74A0189D5622}"/>
    <dgm:cxn modelId="{BCBAA7C7-38E2-4B6F-95F4-0D0BE7505CB4}" type="presOf" srcId="{301251F9-4A44-49E1-8B36-7E50A146D0A0}" destId="{EB70AD4A-86DF-49CD-BAE2-C679F00FD75F}" srcOrd="0" destOrd="4" presId="urn:microsoft.com/office/officeart/2005/8/layout/vList2"/>
    <dgm:cxn modelId="{DA696FD6-B8C2-4F3E-8D5C-F1648902818B}" srcId="{D1776B41-0312-41DE-B302-E8DA2B672C42}" destId="{C0F73FAB-10A6-49E2-A923-5EA33E085621}" srcOrd="0" destOrd="0" parTransId="{C975C2F7-BBA2-4593-B6B2-AD5E66BB1B3B}" sibTransId="{A642F1F7-AB72-4789-906F-4A0488C4386C}"/>
    <dgm:cxn modelId="{3D20E4E2-BF5D-4289-8978-6376CB8BA88C}" type="presOf" srcId="{8BC5C091-56E0-42CB-B541-8452A1DA5CF2}" destId="{E08E2443-5689-4814-BAF6-9202F836ABDA}" srcOrd="0" destOrd="0" presId="urn:microsoft.com/office/officeart/2005/8/layout/vList2"/>
    <dgm:cxn modelId="{C914CDE3-3929-47CB-ACD9-73EF79A92733}" type="presOf" srcId="{5DC7606E-ECEF-42AB-AD9E-515E9665696A}" destId="{EB70AD4A-86DF-49CD-BAE2-C679F00FD75F}" srcOrd="0" destOrd="6" presId="urn:microsoft.com/office/officeart/2005/8/layout/vList2"/>
    <dgm:cxn modelId="{573C65E6-D9CE-4AD6-805B-B8AA07BCDF15}" type="presOf" srcId="{C0F73FAB-10A6-49E2-A923-5EA33E085621}" destId="{89FD896D-FB6C-4520-885B-E6AEBC5B2D41}" srcOrd="0" destOrd="0" presId="urn:microsoft.com/office/officeart/2005/8/layout/vList2"/>
    <dgm:cxn modelId="{AED5D4EB-7BD0-48D7-A83C-130E1D43E28F}" type="presOf" srcId="{59AE7429-1B83-478D-A12B-E7D18EDC7B30}" destId="{EB70AD4A-86DF-49CD-BAE2-C679F00FD75F}" srcOrd="0" destOrd="7" presId="urn:microsoft.com/office/officeart/2005/8/layout/vList2"/>
    <dgm:cxn modelId="{92418FF8-97C7-4DAD-AF7C-9E49BA9F4E86}" type="presOf" srcId="{F6B05D8E-5BBD-4567-A375-43E8D8A83090}" destId="{EB70AD4A-86DF-49CD-BAE2-C679F00FD75F}" srcOrd="0" destOrd="0" presId="urn:microsoft.com/office/officeart/2005/8/layout/vList2"/>
    <dgm:cxn modelId="{251882F6-6F49-4AA8-9695-6F707AAD0BA1}" type="presParOf" srcId="{61716F00-7E15-4379-A8E7-98E5D4AE8077}" destId="{89FD896D-FB6C-4520-885B-E6AEBC5B2D41}" srcOrd="0" destOrd="0" presId="urn:microsoft.com/office/officeart/2005/8/layout/vList2"/>
    <dgm:cxn modelId="{51A8FE1B-8033-4A40-BD29-8E5F7172A1C8}" type="presParOf" srcId="{61716F00-7E15-4379-A8E7-98E5D4AE8077}" destId="{2CA0499F-0451-4D92-82E5-C3C90C1E448D}" srcOrd="1" destOrd="0" presId="urn:microsoft.com/office/officeart/2005/8/layout/vList2"/>
    <dgm:cxn modelId="{96028967-5ACC-403B-940E-2D0A3F1507F2}" type="presParOf" srcId="{61716F00-7E15-4379-A8E7-98E5D4AE8077}" destId="{3796FC02-08D2-4983-9868-271BDE96E4FB}" srcOrd="2" destOrd="0" presId="urn:microsoft.com/office/officeart/2005/8/layout/vList2"/>
    <dgm:cxn modelId="{98741178-265C-4321-A677-289933221718}" type="presParOf" srcId="{61716F00-7E15-4379-A8E7-98E5D4AE8077}" destId="{2DDEF6AD-FA7E-4175-8E30-618B5B9A5A9F}" srcOrd="3" destOrd="0" presId="urn:microsoft.com/office/officeart/2005/8/layout/vList2"/>
    <dgm:cxn modelId="{F8BCD3E5-AA4C-4F79-97C5-EDB788D1ECD7}" type="presParOf" srcId="{61716F00-7E15-4379-A8E7-98E5D4AE8077}" destId="{E08E2443-5689-4814-BAF6-9202F836ABDA}" srcOrd="4" destOrd="0" presId="urn:microsoft.com/office/officeart/2005/8/layout/vList2"/>
    <dgm:cxn modelId="{B6066B08-00BD-4653-9949-5F836C4A4795}" type="presParOf" srcId="{61716F00-7E15-4379-A8E7-98E5D4AE8077}" destId="{EB70AD4A-86DF-49CD-BAE2-C679F00FD75F}" srcOrd="5" destOrd="0" presId="urn:microsoft.com/office/officeart/2005/8/layout/vList2"/>
    <dgm:cxn modelId="{F27204DE-1C90-43F2-958A-A6A87569BCD4}" type="presParOf" srcId="{61716F00-7E15-4379-A8E7-98E5D4AE8077}" destId="{5107E86B-35F6-431C-8104-17B491CE061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1BAF52-99F7-400F-ABBF-6A9997191B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F9EC4D-1EE3-4354-9D9F-C2AAA1C2A056}">
      <dgm:prSet/>
      <dgm:spPr/>
      <dgm:t>
        <a:bodyPr/>
        <a:lstStyle/>
        <a:p>
          <a:r>
            <a:rPr lang="en-US" b="1"/>
            <a:t>Handled Duplicates:</a:t>
          </a:r>
          <a:endParaRPr lang="en-US"/>
        </a:p>
      </dgm:t>
    </dgm:pt>
    <dgm:pt modelId="{0176296B-5376-4DBB-A718-E49DF8C65AE7}" type="parTrans" cxnId="{438D5D38-7CCE-44D5-A0C9-5D87C0D0394F}">
      <dgm:prSet/>
      <dgm:spPr/>
      <dgm:t>
        <a:bodyPr/>
        <a:lstStyle/>
        <a:p>
          <a:endParaRPr lang="en-US"/>
        </a:p>
      </dgm:t>
    </dgm:pt>
    <dgm:pt modelId="{F61708C5-33EF-46E2-8181-4488EF2B2A67}" type="sibTrans" cxnId="{438D5D38-7CCE-44D5-A0C9-5D87C0D0394F}">
      <dgm:prSet/>
      <dgm:spPr/>
      <dgm:t>
        <a:bodyPr/>
        <a:lstStyle/>
        <a:p>
          <a:endParaRPr lang="en-US"/>
        </a:p>
      </dgm:t>
    </dgm:pt>
    <dgm:pt modelId="{94DE1463-9515-4140-A5C5-FD013A5F0C15}">
      <dgm:prSet/>
      <dgm:spPr/>
      <dgm:t>
        <a:bodyPr/>
        <a:lstStyle/>
        <a:p>
          <a:r>
            <a:rPr lang="en-US" dirty="0"/>
            <a:t>Removed 0 identical listing entries initially. But found 739 when checking </a:t>
          </a:r>
          <a:r>
            <a:rPr lang="en-US" dirty="0" err="1"/>
            <a:t>vins</a:t>
          </a:r>
          <a:r>
            <a:rPr lang="en-US" dirty="0"/>
            <a:t>.</a:t>
          </a:r>
        </a:p>
      </dgm:t>
    </dgm:pt>
    <dgm:pt modelId="{87E3A22B-B6CD-45EF-914F-815CD780B4F1}" type="parTrans" cxnId="{84981063-A979-4A8D-8C74-B4F898F435CC}">
      <dgm:prSet/>
      <dgm:spPr/>
      <dgm:t>
        <a:bodyPr/>
        <a:lstStyle/>
        <a:p>
          <a:endParaRPr lang="en-US"/>
        </a:p>
      </dgm:t>
    </dgm:pt>
    <dgm:pt modelId="{F4BBC614-BC1D-4450-B34F-E21A01BAF742}" type="sibTrans" cxnId="{84981063-A979-4A8D-8C74-B4F898F435CC}">
      <dgm:prSet/>
      <dgm:spPr/>
      <dgm:t>
        <a:bodyPr/>
        <a:lstStyle/>
        <a:p>
          <a:endParaRPr lang="en-US"/>
        </a:p>
      </dgm:t>
    </dgm:pt>
    <dgm:pt modelId="{47DDBE49-E3DB-4B67-B6CD-10438C6AA18E}">
      <dgm:prSet/>
      <dgm:spPr/>
      <dgm:t>
        <a:bodyPr/>
        <a:lstStyle/>
        <a:p>
          <a:r>
            <a:rPr lang="en-US" b="1"/>
            <a:t>Fixed Data Types:</a:t>
          </a:r>
          <a:endParaRPr lang="en-US"/>
        </a:p>
      </dgm:t>
    </dgm:pt>
    <dgm:pt modelId="{142EE9AF-9104-46BA-996B-FADBA3BE9E7B}" type="parTrans" cxnId="{A021FAF4-DF04-4F13-B2FB-23903ACD0F7D}">
      <dgm:prSet/>
      <dgm:spPr/>
      <dgm:t>
        <a:bodyPr/>
        <a:lstStyle/>
        <a:p>
          <a:endParaRPr lang="en-US"/>
        </a:p>
      </dgm:t>
    </dgm:pt>
    <dgm:pt modelId="{57E00BC8-C5D8-42B8-B8B5-F73A1081ACA4}" type="sibTrans" cxnId="{A021FAF4-DF04-4F13-B2FB-23903ACD0F7D}">
      <dgm:prSet/>
      <dgm:spPr/>
      <dgm:t>
        <a:bodyPr/>
        <a:lstStyle/>
        <a:p>
          <a:endParaRPr lang="en-US"/>
        </a:p>
      </dgm:t>
    </dgm:pt>
    <dgm:pt modelId="{D2463EFB-296A-4FCD-8DD1-E97457942650}">
      <dgm:prSet/>
      <dgm:spPr/>
      <dgm:t>
        <a:bodyPr/>
        <a:lstStyle/>
        <a:p>
          <a:r>
            <a:rPr lang="en-US"/>
            <a:t>Converted price from text ($10,000) to a float (10000.0)</a:t>
          </a:r>
        </a:p>
      </dgm:t>
    </dgm:pt>
    <dgm:pt modelId="{2C9F4827-ECF0-453C-A916-1939B71BC4C5}" type="parTrans" cxnId="{B89D0B50-833D-4049-B40B-D3AEE59D13E6}">
      <dgm:prSet/>
      <dgm:spPr/>
      <dgm:t>
        <a:bodyPr/>
        <a:lstStyle/>
        <a:p>
          <a:endParaRPr lang="en-US"/>
        </a:p>
      </dgm:t>
    </dgm:pt>
    <dgm:pt modelId="{4D7393A7-A298-4111-94D1-8E052DB1D504}" type="sibTrans" cxnId="{B89D0B50-833D-4049-B40B-D3AEE59D13E6}">
      <dgm:prSet/>
      <dgm:spPr/>
      <dgm:t>
        <a:bodyPr/>
        <a:lstStyle/>
        <a:p>
          <a:endParaRPr lang="en-US"/>
        </a:p>
      </dgm:t>
    </dgm:pt>
    <dgm:pt modelId="{7B95B274-181B-4CDA-B9AF-0CB8A78D7BFB}">
      <dgm:prSet/>
      <dgm:spPr/>
      <dgm:t>
        <a:bodyPr/>
        <a:lstStyle/>
        <a:p>
          <a:r>
            <a:rPr lang="en-US"/>
            <a:t>Odometers converted to integers.</a:t>
          </a:r>
        </a:p>
      </dgm:t>
    </dgm:pt>
    <dgm:pt modelId="{CF22BE0C-E632-48A2-835B-552DF4276B29}" type="parTrans" cxnId="{7EBA76AF-C4BF-4C2B-9F96-A56E2729F06D}">
      <dgm:prSet/>
      <dgm:spPr/>
      <dgm:t>
        <a:bodyPr/>
        <a:lstStyle/>
        <a:p>
          <a:endParaRPr lang="en-US"/>
        </a:p>
      </dgm:t>
    </dgm:pt>
    <dgm:pt modelId="{402E27D6-B245-4A40-A95C-3AE7F9BEF36F}" type="sibTrans" cxnId="{7EBA76AF-C4BF-4C2B-9F96-A56E2729F06D}">
      <dgm:prSet/>
      <dgm:spPr/>
      <dgm:t>
        <a:bodyPr/>
        <a:lstStyle/>
        <a:p>
          <a:endParaRPr lang="en-US"/>
        </a:p>
      </dgm:t>
    </dgm:pt>
    <dgm:pt modelId="{B2D39E8F-F431-4764-929A-113FFDD7D5B9}">
      <dgm:prSet/>
      <dgm:spPr/>
      <dgm:t>
        <a:bodyPr/>
        <a:lstStyle/>
        <a:p>
          <a:r>
            <a:rPr lang="en-US" b="1"/>
            <a:t>Filled Missing Values:</a:t>
          </a:r>
          <a:endParaRPr lang="en-US"/>
        </a:p>
      </dgm:t>
    </dgm:pt>
    <dgm:pt modelId="{F3F2A9FE-544F-4CA3-81BF-66EC719BA1FD}" type="parTrans" cxnId="{0E7531BF-D6AC-482E-81BF-A2BE3899B58C}">
      <dgm:prSet/>
      <dgm:spPr/>
      <dgm:t>
        <a:bodyPr/>
        <a:lstStyle/>
        <a:p>
          <a:endParaRPr lang="en-US"/>
        </a:p>
      </dgm:t>
    </dgm:pt>
    <dgm:pt modelId="{43363015-E0E2-4F75-92B2-3115D99CE720}" type="sibTrans" cxnId="{0E7531BF-D6AC-482E-81BF-A2BE3899B58C}">
      <dgm:prSet/>
      <dgm:spPr/>
      <dgm:t>
        <a:bodyPr/>
        <a:lstStyle/>
        <a:p>
          <a:endParaRPr lang="en-US"/>
        </a:p>
      </dgm:t>
    </dgm:pt>
    <dgm:pt modelId="{4654C3E4-9893-452D-A089-A62B91AB8D45}">
      <dgm:prSet/>
      <dgm:spPr/>
      <dgm:t>
        <a:bodyPr/>
        <a:lstStyle/>
        <a:p>
          <a:r>
            <a:rPr lang="en-US" dirty="0"/>
            <a:t>Filled blank condition and fuel fields with "unknown".</a:t>
          </a:r>
        </a:p>
      </dgm:t>
    </dgm:pt>
    <dgm:pt modelId="{36C42022-FE89-48B8-94B7-8C25AFB5C7E3}" type="parTrans" cxnId="{10F41904-641F-4C27-B8D7-D94355798D18}">
      <dgm:prSet/>
      <dgm:spPr/>
      <dgm:t>
        <a:bodyPr/>
        <a:lstStyle/>
        <a:p>
          <a:endParaRPr lang="en-US"/>
        </a:p>
      </dgm:t>
    </dgm:pt>
    <dgm:pt modelId="{1FE9324B-315D-4743-9AE4-ED9669B04020}" type="sibTrans" cxnId="{10F41904-641F-4C27-B8D7-D94355798D18}">
      <dgm:prSet/>
      <dgm:spPr/>
      <dgm:t>
        <a:bodyPr/>
        <a:lstStyle/>
        <a:p>
          <a:endParaRPr lang="en-US"/>
        </a:p>
      </dgm:t>
    </dgm:pt>
    <dgm:pt modelId="{76E0D6FB-7ABB-43D6-9140-A625880B57FB}">
      <dgm:prSet/>
      <dgm:spPr/>
      <dgm:t>
        <a:bodyPr/>
        <a:lstStyle/>
        <a:p>
          <a:r>
            <a:rPr lang="en-US" b="1"/>
            <a:t>Filtered Outliers:</a:t>
          </a:r>
          <a:endParaRPr lang="en-US"/>
        </a:p>
      </dgm:t>
    </dgm:pt>
    <dgm:pt modelId="{70EDE2B1-51EF-4001-8F5C-D8B0616699BC}" type="parTrans" cxnId="{CD9E0E72-6C84-4373-9CBB-EF7344CC0213}">
      <dgm:prSet/>
      <dgm:spPr/>
      <dgm:t>
        <a:bodyPr/>
        <a:lstStyle/>
        <a:p>
          <a:endParaRPr lang="en-US"/>
        </a:p>
      </dgm:t>
    </dgm:pt>
    <dgm:pt modelId="{B742C429-7B63-49FC-87D5-0CE9B5BDF5B8}" type="sibTrans" cxnId="{CD9E0E72-6C84-4373-9CBB-EF7344CC0213}">
      <dgm:prSet/>
      <dgm:spPr/>
      <dgm:t>
        <a:bodyPr/>
        <a:lstStyle/>
        <a:p>
          <a:endParaRPr lang="en-US"/>
        </a:p>
      </dgm:t>
    </dgm:pt>
    <dgm:pt modelId="{7E3FF66D-7182-4D11-AA1F-DF5DDABCC127}">
      <dgm:prSet/>
      <dgm:spPr/>
      <dgm:t>
        <a:bodyPr/>
        <a:lstStyle/>
        <a:p>
          <a:r>
            <a:rPr lang="en-US" dirty="0"/>
            <a:t>Removed junk listings ($0 cars, really high outlier prices).</a:t>
          </a:r>
        </a:p>
      </dgm:t>
    </dgm:pt>
    <dgm:pt modelId="{31E45149-CF0C-430B-B6C7-960E6F53895F}" type="parTrans" cxnId="{EB61BFE2-DC0A-41F6-A9F5-A3FA7896217A}">
      <dgm:prSet/>
      <dgm:spPr/>
      <dgm:t>
        <a:bodyPr/>
        <a:lstStyle/>
        <a:p>
          <a:endParaRPr lang="en-US"/>
        </a:p>
      </dgm:t>
    </dgm:pt>
    <dgm:pt modelId="{D91B1E67-428A-4FA3-87FC-508021A525E5}" type="sibTrans" cxnId="{EB61BFE2-DC0A-41F6-A9F5-A3FA7896217A}">
      <dgm:prSet/>
      <dgm:spPr/>
      <dgm:t>
        <a:bodyPr/>
        <a:lstStyle/>
        <a:p>
          <a:endParaRPr lang="en-US"/>
        </a:p>
      </dgm:t>
    </dgm:pt>
    <dgm:pt modelId="{DC88E727-FB57-4F28-8E72-AE0D063F8415}">
      <dgm:prSet/>
      <dgm:spPr/>
      <dgm:t>
        <a:bodyPr/>
        <a:lstStyle/>
        <a:p>
          <a:r>
            <a:rPr lang="en-US" dirty="0"/>
            <a:t>Dropped fields missing critical values.</a:t>
          </a:r>
        </a:p>
      </dgm:t>
    </dgm:pt>
    <dgm:pt modelId="{D82947EB-2FB5-4D1D-8A1D-85C9CBE0CAD6}" type="parTrans" cxnId="{50880BFD-2DD9-4470-A3A8-7428129BFB81}">
      <dgm:prSet/>
      <dgm:spPr/>
      <dgm:t>
        <a:bodyPr/>
        <a:lstStyle/>
        <a:p>
          <a:endParaRPr lang="en-US"/>
        </a:p>
      </dgm:t>
    </dgm:pt>
    <dgm:pt modelId="{3F366F7E-CF9A-44CE-B2D5-F013C8468146}" type="sibTrans" cxnId="{50880BFD-2DD9-4470-A3A8-7428129BFB81}">
      <dgm:prSet/>
      <dgm:spPr/>
      <dgm:t>
        <a:bodyPr/>
        <a:lstStyle/>
        <a:p>
          <a:endParaRPr lang="en-US"/>
        </a:p>
      </dgm:t>
    </dgm:pt>
    <dgm:pt modelId="{2AF065BA-1AF5-4184-8C5C-701C3C3E8C2D}">
      <dgm:prSet/>
      <dgm:spPr/>
      <dgm:t>
        <a:bodyPr/>
        <a:lstStyle/>
        <a:p>
          <a:r>
            <a:rPr lang="en-US" dirty="0"/>
            <a:t>Kept age modern to avoid price alterations due to outside influence (classic cars)</a:t>
          </a:r>
        </a:p>
      </dgm:t>
    </dgm:pt>
    <dgm:pt modelId="{27015437-7F16-494F-9FBE-CF02E48F0DE6}" type="parTrans" cxnId="{8C3B986A-DCB9-4375-992C-86EBF3E81E45}">
      <dgm:prSet/>
      <dgm:spPr/>
      <dgm:t>
        <a:bodyPr/>
        <a:lstStyle/>
        <a:p>
          <a:endParaRPr lang="en-US"/>
        </a:p>
      </dgm:t>
    </dgm:pt>
    <dgm:pt modelId="{E1613E89-F4A8-4633-8371-D1A04BFFACF1}" type="sibTrans" cxnId="{8C3B986A-DCB9-4375-992C-86EBF3E81E45}">
      <dgm:prSet/>
      <dgm:spPr/>
      <dgm:t>
        <a:bodyPr/>
        <a:lstStyle/>
        <a:p>
          <a:endParaRPr lang="en-US"/>
        </a:p>
      </dgm:t>
    </dgm:pt>
    <dgm:pt modelId="{2F3BF793-4099-4EA2-9E15-950B7B81EE83}">
      <dgm:prSet/>
      <dgm:spPr/>
      <dgm:t>
        <a:bodyPr/>
        <a:lstStyle/>
        <a:p>
          <a:r>
            <a:rPr lang="en-US" dirty="0"/>
            <a:t>Showed the vin values that needed to be fixed. Before used for comparisons.</a:t>
          </a:r>
        </a:p>
      </dgm:t>
    </dgm:pt>
    <dgm:pt modelId="{6368AF78-35A0-438F-AAAB-3C2B452EFD68}" type="parTrans" cxnId="{68C3149E-938B-479C-9AC6-2E2BC080F617}">
      <dgm:prSet/>
      <dgm:spPr/>
      <dgm:t>
        <a:bodyPr/>
        <a:lstStyle/>
        <a:p>
          <a:endParaRPr lang="en-US"/>
        </a:p>
      </dgm:t>
    </dgm:pt>
    <dgm:pt modelId="{28A25647-18BB-40BA-BB6B-E66478F02617}" type="sibTrans" cxnId="{68C3149E-938B-479C-9AC6-2E2BC080F617}">
      <dgm:prSet/>
      <dgm:spPr/>
      <dgm:t>
        <a:bodyPr/>
        <a:lstStyle/>
        <a:p>
          <a:endParaRPr lang="en-US"/>
        </a:p>
      </dgm:t>
    </dgm:pt>
    <dgm:pt modelId="{7B70C465-AB2C-494B-9119-CA43D38B03CE}" type="pres">
      <dgm:prSet presAssocID="{671BAF52-99F7-400F-ABBF-6A9997191B99}" presName="Name0" presStyleCnt="0">
        <dgm:presLayoutVars>
          <dgm:dir/>
          <dgm:animLvl val="lvl"/>
          <dgm:resizeHandles val="exact"/>
        </dgm:presLayoutVars>
      </dgm:prSet>
      <dgm:spPr/>
    </dgm:pt>
    <dgm:pt modelId="{3071EFC4-A5B2-4F88-B3F6-95DCB3F85BB1}" type="pres">
      <dgm:prSet presAssocID="{E2F9EC4D-1EE3-4354-9D9F-C2AAA1C2A056}" presName="composite" presStyleCnt="0"/>
      <dgm:spPr/>
    </dgm:pt>
    <dgm:pt modelId="{3DDFC95A-F84A-482F-866F-DCF287222E9A}" type="pres">
      <dgm:prSet presAssocID="{E2F9EC4D-1EE3-4354-9D9F-C2AAA1C2A056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E218D21-D2F2-4632-A7B7-14E62833A774}" type="pres">
      <dgm:prSet presAssocID="{E2F9EC4D-1EE3-4354-9D9F-C2AAA1C2A056}" presName="desTx" presStyleLbl="alignAccFollowNode1" presStyleIdx="0" presStyleCnt="4">
        <dgm:presLayoutVars>
          <dgm:bulletEnabled val="1"/>
        </dgm:presLayoutVars>
      </dgm:prSet>
      <dgm:spPr/>
    </dgm:pt>
    <dgm:pt modelId="{A43B1971-9C17-4AE1-8F9F-EBA4635B87A9}" type="pres">
      <dgm:prSet presAssocID="{F61708C5-33EF-46E2-8181-4488EF2B2A67}" presName="space" presStyleCnt="0"/>
      <dgm:spPr/>
    </dgm:pt>
    <dgm:pt modelId="{271AEC70-7B76-4C10-A349-C511F116F0E1}" type="pres">
      <dgm:prSet presAssocID="{47DDBE49-E3DB-4B67-B6CD-10438C6AA18E}" presName="composite" presStyleCnt="0"/>
      <dgm:spPr/>
    </dgm:pt>
    <dgm:pt modelId="{86C81EEA-EABC-4BB7-8B98-255ADC12F3C4}" type="pres">
      <dgm:prSet presAssocID="{47DDBE49-E3DB-4B67-B6CD-10438C6AA18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0E137A8-854D-4D03-A454-504CB52837DA}" type="pres">
      <dgm:prSet presAssocID="{47DDBE49-E3DB-4B67-B6CD-10438C6AA18E}" presName="desTx" presStyleLbl="alignAccFollowNode1" presStyleIdx="1" presStyleCnt="4">
        <dgm:presLayoutVars>
          <dgm:bulletEnabled val="1"/>
        </dgm:presLayoutVars>
      </dgm:prSet>
      <dgm:spPr/>
    </dgm:pt>
    <dgm:pt modelId="{A005DA70-C998-46CE-B389-1D4B716D817A}" type="pres">
      <dgm:prSet presAssocID="{57E00BC8-C5D8-42B8-B8B5-F73A1081ACA4}" presName="space" presStyleCnt="0"/>
      <dgm:spPr/>
    </dgm:pt>
    <dgm:pt modelId="{FFC838B6-5BF4-4486-8D0C-C5B1AA02EF0C}" type="pres">
      <dgm:prSet presAssocID="{B2D39E8F-F431-4764-929A-113FFDD7D5B9}" presName="composite" presStyleCnt="0"/>
      <dgm:spPr/>
    </dgm:pt>
    <dgm:pt modelId="{C1230D7A-42CA-4EAF-99BD-5C858AE7718A}" type="pres">
      <dgm:prSet presAssocID="{B2D39E8F-F431-4764-929A-113FFDD7D5B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F4231CD-6C41-422F-B8FA-5D4BD5244100}" type="pres">
      <dgm:prSet presAssocID="{B2D39E8F-F431-4764-929A-113FFDD7D5B9}" presName="desTx" presStyleLbl="alignAccFollowNode1" presStyleIdx="2" presStyleCnt="4">
        <dgm:presLayoutVars>
          <dgm:bulletEnabled val="1"/>
        </dgm:presLayoutVars>
      </dgm:prSet>
      <dgm:spPr/>
    </dgm:pt>
    <dgm:pt modelId="{655DFB39-D4C1-48EB-9A00-4FC19AFB94B5}" type="pres">
      <dgm:prSet presAssocID="{43363015-E0E2-4F75-92B2-3115D99CE720}" presName="space" presStyleCnt="0"/>
      <dgm:spPr/>
    </dgm:pt>
    <dgm:pt modelId="{AFA1CDC6-3077-447C-9476-109C89073439}" type="pres">
      <dgm:prSet presAssocID="{76E0D6FB-7ABB-43D6-9140-A625880B57FB}" presName="composite" presStyleCnt="0"/>
      <dgm:spPr/>
    </dgm:pt>
    <dgm:pt modelId="{7FC9AEDD-BD3F-40DE-B2DF-11F71C372080}" type="pres">
      <dgm:prSet presAssocID="{76E0D6FB-7ABB-43D6-9140-A625880B57F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BEA5645-2963-4C51-821A-08433C6EB670}" type="pres">
      <dgm:prSet presAssocID="{76E0D6FB-7ABB-43D6-9140-A625880B57F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C9BAE03-678F-409A-B74A-16E09FE35A83}" type="presOf" srcId="{2AF065BA-1AF5-4184-8C5C-701C3C3E8C2D}" destId="{4BEA5645-2963-4C51-821A-08433C6EB670}" srcOrd="0" destOrd="1" presId="urn:microsoft.com/office/officeart/2005/8/layout/hList1"/>
    <dgm:cxn modelId="{10F41904-641F-4C27-B8D7-D94355798D18}" srcId="{B2D39E8F-F431-4764-929A-113FFDD7D5B9}" destId="{4654C3E4-9893-452D-A089-A62B91AB8D45}" srcOrd="0" destOrd="0" parTransId="{36C42022-FE89-48B8-94B7-8C25AFB5C7E3}" sibTransId="{1FE9324B-315D-4743-9AE4-ED9669B04020}"/>
    <dgm:cxn modelId="{3CA65E09-9ECB-4135-B6F3-0C16CE3CE967}" type="presOf" srcId="{E2F9EC4D-1EE3-4354-9D9F-C2AAA1C2A056}" destId="{3DDFC95A-F84A-482F-866F-DCF287222E9A}" srcOrd="0" destOrd="0" presId="urn:microsoft.com/office/officeart/2005/8/layout/hList1"/>
    <dgm:cxn modelId="{438D5D38-7CCE-44D5-A0C9-5D87C0D0394F}" srcId="{671BAF52-99F7-400F-ABBF-6A9997191B99}" destId="{E2F9EC4D-1EE3-4354-9D9F-C2AAA1C2A056}" srcOrd="0" destOrd="0" parTransId="{0176296B-5376-4DBB-A718-E49DF8C65AE7}" sibTransId="{F61708C5-33EF-46E2-8181-4488EF2B2A67}"/>
    <dgm:cxn modelId="{F4E18B40-49B9-4BA8-A306-BE337A3E7376}" type="presOf" srcId="{7E3FF66D-7182-4D11-AA1F-DF5DDABCC127}" destId="{4BEA5645-2963-4C51-821A-08433C6EB670}" srcOrd="0" destOrd="0" presId="urn:microsoft.com/office/officeart/2005/8/layout/hList1"/>
    <dgm:cxn modelId="{9312265B-CE7A-48EF-A57E-FA4D20F6606E}" type="presOf" srcId="{94DE1463-9515-4140-A5C5-FD013A5F0C15}" destId="{9E218D21-D2F2-4632-A7B7-14E62833A774}" srcOrd="0" destOrd="0" presId="urn:microsoft.com/office/officeart/2005/8/layout/hList1"/>
    <dgm:cxn modelId="{84981063-A979-4A8D-8C74-B4F898F435CC}" srcId="{E2F9EC4D-1EE3-4354-9D9F-C2AAA1C2A056}" destId="{94DE1463-9515-4140-A5C5-FD013A5F0C15}" srcOrd="0" destOrd="0" parTransId="{87E3A22B-B6CD-45EF-914F-815CD780B4F1}" sibTransId="{F4BBC614-BC1D-4450-B34F-E21A01BAF742}"/>
    <dgm:cxn modelId="{76917C49-55CC-4C3C-9EB7-A4C0D3C6E382}" type="presOf" srcId="{DC88E727-FB57-4F28-8E72-AE0D063F8415}" destId="{4F4231CD-6C41-422F-B8FA-5D4BD5244100}" srcOrd="0" destOrd="1" presId="urn:microsoft.com/office/officeart/2005/8/layout/hList1"/>
    <dgm:cxn modelId="{8C3B986A-DCB9-4375-992C-86EBF3E81E45}" srcId="{76E0D6FB-7ABB-43D6-9140-A625880B57FB}" destId="{2AF065BA-1AF5-4184-8C5C-701C3C3E8C2D}" srcOrd="1" destOrd="0" parTransId="{27015437-7F16-494F-9FBE-CF02E48F0DE6}" sibTransId="{E1613E89-F4A8-4633-8371-D1A04BFFACF1}"/>
    <dgm:cxn modelId="{410A9E4D-3B2B-41BC-B89B-381DD0F638D9}" type="presOf" srcId="{671BAF52-99F7-400F-ABBF-6A9997191B99}" destId="{7B70C465-AB2C-494B-9119-CA43D38B03CE}" srcOrd="0" destOrd="0" presId="urn:microsoft.com/office/officeart/2005/8/layout/hList1"/>
    <dgm:cxn modelId="{5EAC636F-7D45-43C6-A80E-B9DCD19FDA83}" type="presOf" srcId="{76E0D6FB-7ABB-43D6-9140-A625880B57FB}" destId="{7FC9AEDD-BD3F-40DE-B2DF-11F71C372080}" srcOrd="0" destOrd="0" presId="urn:microsoft.com/office/officeart/2005/8/layout/hList1"/>
    <dgm:cxn modelId="{B89D0B50-833D-4049-B40B-D3AEE59D13E6}" srcId="{47DDBE49-E3DB-4B67-B6CD-10438C6AA18E}" destId="{D2463EFB-296A-4FCD-8DD1-E97457942650}" srcOrd="0" destOrd="0" parTransId="{2C9F4827-ECF0-453C-A916-1939B71BC4C5}" sibTransId="{4D7393A7-A298-4111-94D1-8E052DB1D504}"/>
    <dgm:cxn modelId="{3C9FBF70-7649-4E97-AF9A-2D7D96F1C4E9}" type="presOf" srcId="{2F3BF793-4099-4EA2-9E15-950B7B81EE83}" destId="{9E218D21-D2F2-4632-A7B7-14E62833A774}" srcOrd="0" destOrd="1" presId="urn:microsoft.com/office/officeart/2005/8/layout/hList1"/>
    <dgm:cxn modelId="{CD9E0E72-6C84-4373-9CBB-EF7344CC0213}" srcId="{671BAF52-99F7-400F-ABBF-6A9997191B99}" destId="{76E0D6FB-7ABB-43D6-9140-A625880B57FB}" srcOrd="3" destOrd="0" parTransId="{70EDE2B1-51EF-4001-8F5C-D8B0616699BC}" sibTransId="{B742C429-7B63-49FC-87D5-0CE9B5BDF5B8}"/>
    <dgm:cxn modelId="{46BA2A7B-26DC-47A1-ACB0-1E00BEC57C8C}" type="presOf" srcId="{D2463EFB-296A-4FCD-8DD1-E97457942650}" destId="{30E137A8-854D-4D03-A454-504CB52837DA}" srcOrd="0" destOrd="0" presId="urn:microsoft.com/office/officeart/2005/8/layout/hList1"/>
    <dgm:cxn modelId="{B749FD7B-CC49-48A2-9B2A-5C03E4A7C930}" type="presOf" srcId="{47DDBE49-E3DB-4B67-B6CD-10438C6AA18E}" destId="{86C81EEA-EABC-4BB7-8B98-255ADC12F3C4}" srcOrd="0" destOrd="0" presId="urn:microsoft.com/office/officeart/2005/8/layout/hList1"/>
    <dgm:cxn modelId="{6608B988-1B45-4138-8CD9-B53AFC9895FE}" type="presOf" srcId="{7B95B274-181B-4CDA-B9AF-0CB8A78D7BFB}" destId="{30E137A8-854D-4D03-A454-504CB52837DA}" srcOrd="0" destOrd="1" presId="urn:microsoft.com/office/officeart/2005/8/layout/hList1"/>
    <dgm:cxn modelId="{68C3149E-938B-479C-9AC6-2E2BC080F617}" srcId="{E2F9EC4D-1EE3-4354-9D9F-C2AAA1C2A056}" destId="{2F3BF793-4099-4EA2-9E15-950B7B81EE83}" srcOrd="1" destOrd="0" parTransId="{6368AF78-35A0-438F-AAAB-3C2B452EFD68}" sibTransId="{28A25647-18BB-40BA-BB6B-E66478F02617}"/>
    <dgm:cxn modelId="{C02A439E-81BA-433D-8A9E-74809BE7B0C3}" type="presOf" srcId="{4654C3E4-9893-452D-A089-A62B91AB8D45}" destId="{4F4231CD-6C41-422F-B8FA-5D4BD5244100}" srcOrd="0" destOrd="0" presId="urn:microsoft.com/office/officeart/2005/8/layout/hList1"/>
    <dgm:cxn modelId="{B28F45A1-8D27-4334-81F7-7DAAD578BBC5}" type="presOf" srcId="{B2D39E8F-F431-4764-929A-113FFDD7D5B9}" destId="{C1230D7A-42CA-4EAF-99BD-5C858AE7718A}" srcOrd="0" destOrd="0" presId="urn:microsoft.com/office/officeart/2005/8/layout/hList1"/>
    <dgm:cxn modelId="{7EBA76AF-C4BF-4C2B-9F96-A56E2729F06D}" srcId="{47DDBE49-E3DB-4B67-B6CD-10438C6AA18E}" destId="{7B95B274-181B-4CDA-B9AF-0CB8A78D7BFB}" srcOrd="1" destOrd="0" parTransId="{CF22BE0C-E632-48A2-835B-552DF4276B29}" sibTransId="{402E27D6-B245-4A40-A95C-3AE7F9BEF36F}"/>
    <dgm:cxn modelId="{0E7531BF-D6AC-482E-81BF-A2BE3899B58C}" srcId="{671BAF52-99F7-400F-ABBF-6A9997191B99}" destId="{B2D39E8F-F431-4764-929A-113FFDD7D5B9}" srcOrd="2" destOrd="0" parTransId="{F3F2A9FE-544F-4CA3-81BF-66EC719BA1FD}" sibTransId="{43363015-E0E2-4F75-92B2-3115D99CE720}"/>
    <dgm:cxn modelId="{EB61BFE2-DC0A-41F6-A9F5-A3FA7896217A}" srcId="{76E0D6FB-7ABB-43D6-9140-A625880B57FB}" destId="{7E3FF66D-7182-4D11-AA1F-DF5DDABCC127}" srcOrd="0" destOrd="0" parTransId="{31E45149-CF0C-430B-B6C7-960E6F53895F}" sibTransId="{D91B1E67-428A-4FA3-87FC-508021A525E5}"/>
    <dgm:cxn modelId="{A021FAF4-DF04-4F13-B2FB-23903ACD0F7D}" srcId="{671BAF52-99F7-400F-ABBF-6A9997191B99}" destId="{47DDBE49-E3DB-4B67-B6CD-10438C6AA18E}" srcOrd="1" destOrd="0" parTransId="{142EE9AF-9104-46BA-996B-FADBA3BE9E7B}" sibTransId="{57E00BC8-C5D8-42B8-B8B5-F73A1081ACA4}"/>
    <dgm:cxn modelId="{50880BFD-2DD9-4470-A3A8-7428129BFB81}" srcId="{B2D39E8F-F431-4764-929A-113FFDD7D5B9}" destId="{DC88E727-FB57-4F28-8E72-AE0D063F8415}" srcOrd="1" destOrd="0" parTransId="{D82947EB-2FB5-4D1D-8A1D-85C9CBE0CAD6}" sibTransId="{3F366F7E-CF9A-44CE-B2D5-F013C8468146}"/>
    <dgm:cxn modelId="{095AB52A-77AC-4FE1-BA21-D55B8CBEC0A0}" type="presParOf" srcId="{7B70C465-AB2C-494B-9119-CA43D38B03CE}" destId="{3071EFC4-A5B2-4F88-B3F6-95DCB3F85BB1}" srcOrd="0" destOrd="0" presId="urn:microsoft.com/office/officeart/2005/8/layout/hList1"/>
    <dgm:cxn modelId="{825AC394-FC0D-4883-8099-DB0FFCDE9C06}" type="presParOf" srcId="{3071EFC4-A5B2-4F88-B3F6-95DCB3F85BB1}" destId="{3DDFC95A-F84A-482F-866F-DCF287222E9A}" srcOrd="0" destOrd="0" presId="urn:microsoft.com/office/officeart/2005/8/layout/hList1"/>
    <dgm:cxn modelId="{D641C764-9CE9-4628-8F91-6FA573CCCD9C}" type="presParOf" srcId="{3071EFC4-A5B2-4F88-B3F6-95DCB3F85BB1}" destId="{9E218D21-D2F2-4632-A7B7-14E62833A774}" srcOrd="1" destOrd="0" presId="urn:microsoft.com/office/officeart/2005/8/layout/hList1"/>
    <dgm:cxn modelId="{DEE2D5F5-8D51-4B24-B164-2AFB8C5970EA}" type="presParOf" srcId="{7B70C465-AB2C-494B-9119-CA43D38B03CE}" destId="{A43B1971-9C17-4AE1-8F9F-EBA4635B87A9}" srcOrd="1" destOrd="0" presId="urn:microsoft.com/office/officeart/2005/8/layout/hList1"/>
    <dgm:cxn modelId="{B1DCB666-4458-4CED-BF48-99CB8C74A0E0}" type="presParOf" srcId="{7B70C465-AB2C-494B-9119-CA43D38B03CE}" destId="{271AEC70-7B76-4C10-A349-C511F116F0E1}" srcOrd="2" destOrd="0" presId="urn:microsoft.com/office/officeart/2005/8/layout/hList1"/>
    <dgm:cxn modelId="{9AB77505-67DC-4FCD-A923-340D46795923}" type="presParOf" srcId="{271AEC70-7B76-4C10-A349-C511F116F0E1}" destId="{86C81EEA-EABC-4BB7-8B98-255ADC12F3C4}" srcOrd="0" destOrd="0" presId="urn:microsoft.com/office/officeart/2005/8/layout/hList1"/>
    <dgm:cxn modelId="{529D4982-FCDC-4C5F-86CC-27F004E93B76}" type="presParOf" srcId="{271AEC70-7B76-4C10-A349-C511F116F0E1}" destId="{30E137A8-854D-4D03-A454-504CB52837DA}" srcOrd="1" destOrd="0" presId="urn:microsoft.com/office/officeart/2005/8/layout/hList1"/>
    <dgm:cxn modelId="{20713536-9651-429D-A41E-8049081B9B36}" type="presParOf" srcId="{7B70C465-AB2C-494B-9119-CA43D38B03CE}" destId="{A005DA70-C998-46CE-B389-1D4B716D817A}" srcOrd="3" destOrd="0" presId="urn:microsoft.com/office/officeart/2005/8/layout/hList1"/>
    <dgm:cxn modelId="{A90E8EB8-4C55-4C29-99C5-8BA5F809ED6A}" type="presParOf" srcId="{7B70C465-AB2C-494B-9119-CA43D38B03CE}" destId="{FFC838B6-5BF4-4486-8D0C-C5B1AA02EF0C}" srcOrd="4" destOrd="0" presId="urn:microsoft.com/office/officeart/2005/8/layout/hList1"/>
    <dgm:cxn modelId="{91FF6058-AA55-4AB4-A376-C21C6E76A133}" type="presParOf" srcId="{FFC838B6-5BF4-4486-8D0C-C5B1AA02EF0C}" destId="{C1230D7A-42CA-4EAF-99BD-5C858AE7718A}" srcOrd="0" destOrd="0" presId="urn:microsoft.com/office/officeart/2005/8/layout/hList1"/>
    <dgm:cxn modelId="{23F4AD18-8CE4-4FD0-86F5-71709205E1E4}" type="presParOf" srcId="{FFC838B6-5BF4-4486-8D0C-C5B1AA02EF0C}" destId="{4F4231CD-6C41-422F-B8FA-5D4BD5244100}" srcOrd="1" destOrd="0" presId="urn:microsoft.com/office/officeart/2005/8/layout/hList1"/>
    <dgm:cxn modelId="{265E63BC-5747-42DF-AEFA-BE7D57829092}" type="presParOf" srcId="{7B70C465-AB2C-494B-9119-CA43D38B03CE}" destId="{655DFB39-D4C1-48EB-9A00-4FC19AFB94B5}" srcOrd="5" destOrd="0" presId="urn:microsoft.com/office/officeart/2005/8/layout/hList1"/>
    <dgm:cxn modelId="{D768957A-8BA6-4F03-A40A-AF6EFE612B8D}" type="presParOf" srcId="{7B70C465-AB2C-494B-9119-CA43D38B03CE}" destId="{AFA1CDC6-3077-447C-9476-109C89073439}" srcOrd="6" destOrd="0" presId="urn:microsoft.com/office/officeart/2005/8/layout/hList1"/>
    <dgm:cxn modelId="{250901C9-C7E5-4875-8A0D-80E9B0CE558C}" type="presParOf" srcId="{AFA1CDC6-3077-447C-9476-109C89073439}" destId="{7FC9AEDD-BD3F-40DE-B2DF-11F71C372080}" srcOrd="0" destOrd="0" presId="urn:microsoft.com/office/officeart/2005/8/layout/hList1"/>
    <dgm:cxn modelId="{0CD50994-8FFA-42DA-9A91-AC3621ED955D}" type="presParOf" srcId="{AFA1CDC6-3077-447C-9476-109C89073439}" destId="{4BEA5645-2963-4C51-821A-08433C6EB67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D896D-FB6C-4520-885B-E6AEBC5B2D41}">
      <dsp:nvSpPr>
        <dsp:cNvPr id="0" name=""/>
        <dsp:cNvSpPr/>
      </dsp:nvSpPr>
      <dsp:spPr>
        <a:xfrm>
          <a:off x="0" y="99407"/>
          <a:ext cx="11029615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dirty="0"/>
            <a:t>Problem:</a:t>
          </a:r>
          <a:r>
            <a:rPr lang="en-US" sz="1900" b="0" i="0" kern="1200" dirty="0"/>
            <a:t> The full dataset is too broad and had errors from it’s collection.</a:t>
          </a:r>
          <a:endParaRPr lang="en-US" sz="1900" kern="1200" dirty="0"/>
        </a:p>
      </dsp:txBody>
      <dsp:txXfrm>
        <a:off x="21704" y="121111"/>
        <a:ext cx="10986207" cy="401192"/>
      </dsp:txXfrm>
    </dsp:sp>
    <dsp:sp modelId="{3796FC02-08D2-4983-9868-271BDE96E4FB}">
      <dsp:nvSpPr>
        <dsp:cNvPr id="0" name=""/>
        <dsp:cNvSpPr/>
      </dsp:nvSpPr>
      <dsp:spPr>
        <a:xfrm>
          <a:off x="0" y="598727"/>
          <a:ext cx="11029615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Solution:</a:t>
          </a:r>
          <a:r>
            <a:rPr lang="en-US" sz="1900" b="0" i="0" kern="1200"/>
            <a:t> I created a focused, clean subset.</a:t>
          </a:r>
          <a:endParaRPr lang="en-US" sz="1900" kern="1200"/>
        </a:p>
      </dsp:txBody>
      <dsp:txXfrm>
        <a:off x="21704" y="620431"/>
        <a:ext cx="10986207" cy="401192"/>
      </dsp:txXfrm>
    </dsp:sp>
    <dsp:sp modelId="{E08E2443-5689-4814-BAF6-9202F836ABDA}">
      <dsp:nvSpPr>
        <dsp:cNvPr id="0" name=""/>
        <dsp:cNvSpPr/>
      </dsp:nvSpPr>
      <dsp:spPr>
        <a:xfrm>
          <a:off x="0" y="1098048"/>
          <a:ext cx="11029615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Filters Applied:</a:t>
          </a:r>
          <a:endParaRPr lang="en-US" sz="1900" kern="1200"/>
        </a:p>
      </dsp:txBody>
      <dsp:txXfrm>
        <a:off x="21704" y="1119752"/>
        <a:ext cx="10986207" cy="401192"/>
      </dsp:txXfrm>
    </dsp:sp>
    <dsp:sp modelId="{EB70AD4A-86DF-49CD-BAE2-C679F00FD75F}">
      <dsp:nvSpPr>
        <dsp:cNvPr id="0" name=""/>
        <dsp:cNvSpPr/>
      </dsp:nvSpPr>
      <dsp:spPr>
        <a:xfrm>
          <a:off x="0" y="1542647"/>
          <a:ext cx="11029615" cy="196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1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i="0" kern="1200" dirty="0"/>
            <a:t>Model Years: 1948 to 2023 </a:t>
          </a:r>
          <a:r>
            <a:rPr lang="en-US" sz="1500" b="0" i="0" kern="1200" dirty="0"/>
            <a:t>(excluded classic cars per Classic Car Club of America guidelines)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Price: $500 to $90,000 </a:t>
          </a:r>
          <a:r>
            <a:rPr lang="en-US" sz="1500" b="0" i="0" kern="1200" dirty="0"/>
            <a:t>(focused on mainstream market, excluded larger outliers caused by classics)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Dropped rows missing critical data </a:t>
          </a:r>
          <a:r>
            <a:rPr lang="en-US" sz="1500" b="0" i="0" kern="1200" dirty="0"/>
            <a:t>(price, manufacturer, year, odometer)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Removed unrealistic odometer readings </a:t>
          </a:r>
          <a:r>
            <a:rPr lang="en-US" sz="1500" b="0" i="0" kern="1200" dirty="0"/>
            <a:t>(&gt; 0 miles)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Standardized text fields </a:t>
          </a:r>
          <a:r>
            <a:rPr lang="en-US" sz="1500" b="0" i="0" kern="1200" dirty="0"/>
            <a:t>(manufacturer, model names to lowercase)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Consolidated vehicle type </a:t>
          </a:r>
          <a:r>
            <a:rPr lang="en-US" sz="1500" b="0" i="0" kern="1200" dirty="0"/>
            <a:t>names that tripped up data (mini-van and minivan)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Consolidated condition categories </a:t>
          </a:r>
          <a:r>
            <a:rPr lang="en-US" sz="1500" b="0" i="0" kern="1200" dirty="0"/>
            <a:t>from 8+ values to 5 clear levels (fair, salvage,.</a:t>
          </a:r>
          <a:r>
            <a:rPr lang="en-US" sz="1500" b="0" i="0" kern="1200" dirty="0" err="1"/>
            <a:t>etc</a:t>
          </a:r>
          <a:r>
            <a:rPr lang="en-US" sz="1500" b="0" i="0" kern="1200" dirty="0"/>
            <a:t>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500" b="1" i="0" kern="1200" dirty="0"/>
            <a:t>Converted variables to proper data types </a:t>
          </a:r>
          <a:r>
            <a:rPr lang="en-US" sz="1500" b="0" i="0" kern="1200" dirty="0"/>
            <a:t>(price, year, odometer to numeric)</a:t>
          </a:r>
        </a:p>
      </dsp:txBody>
      <dsp:txXfrm>
        <a:off x="0" y="1542647"/>
        <a:ext cx="11029615" cy="1966500"/>
      </dsp:txXfrm>
    </dsp:sp>
    <dsp:sp modelId="{5107E86B-35F6-431C-8104-17B491CE061D}">
      <dsp:nvSpPr>
        <dsp:cNvPr id="0" name=""/>
        <dsp:cNvSpPr/>
      </dsp:nvSpPr>
      <dsp:spPr>
        <a:xfrm>
          <a:off x="0" y="3509148"/>
          <a:ext cx="11029615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/>
            <a:t>Result:</a:t>
          </a:r>
          <a:r>
            <a:rPr lang="en-US" sz="1900" b="0" i="0" kern="1200"/>
            <a:t> A higher-quality dataset for accurate analysis.</a:t>
          </a:r>
          <a:endParaRPr lang="en-US" sz="1900" kern="1200"/>
        </a:p>
      </dsp:txBody>
      <dsp:txXfrm>
        <a:off x="21704" y="3530852"/>
        <a:ext cx="10986207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FC95A-F84A-482F-866F-DCF287222E9A}">
      <dsp:nvSpPr>
        <dsp:cNvPr id="0" name=""/>
        <dsp:cNvSpPr/>
      </dsp:nvSpPr>
      <dsp:spPr>
        <a:xfrm>
          <a:off x="4146" y="9591"/>
          <a:ext cx="2493511" cy="694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Handled Duplicates:</a:t>
          </a:r>
          <a:endParaRPr lang="en-US" sz="2000" kern="1200"/>
        </a:p>
      </dsp:txBody>
      <dsp:txXfrm>
        <a:off x="4146" y="9591"/>
        <a:ext cx="2493511" cy="694520"/>
      </dsp:txXfrm>
    </dsp:sp>
    <dsp:sp modelId="{9E218D21-D2F2-4632-A7B7-14E62833A774}">
      <dsp:nvSpPr>
        <dsp:cNvPr id="0" name=""/>
        <dsp:cNvSpPr/>
      </dsp:nvSpPr>
      <dsp:spPr>
        <a:xfrm>
          <a:off x="4146" y="704111"/>
          <a:ext cx="2493511" cy="2964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Removed 0 identical listing entries initially. But found 739 when checking </a:t>
          </a:r>
          <a:r>
            <a:rPr lang="en-US" sz="2000" kern="1200" dirty="0" err="1"/>
            <a:t>vins</a:t>
          </a:r>
          <a:r>
            <a:rPr lang="en-US" sz="2000" kern="1200" dirty="0"/>
            <a:t>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Showed the vin values that needed to be fixed. Before used for comparisons.</a:t>
          </a:r>
        </a:p>
      </dsp:txBody>
      <dsp:txXfrm>
        <a:off x="4146" y="704111"/>
        <a:ext cx="2493511" cy="2964599"/>
      </dsp:txXfrm>
    </dsp:sp>
    <dsp:sp modelId="{86C81EEA-EABC-4BB7-8B98-255ADC12F3C4}">
      <dsp:nvSpPr>
        <dsp:cNvPr id="0" name=""/>
        <dsp:cNvSpPr/>
      </dsp:nvSpPr>
      <dsp:spPr>
        <a:xfrm>
          <a:off x="2846750" y="9591"/>
          <a:ext cx="2493511" cy="694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Fixed Data Types:</a:t>
          </a:r>
          <a:endParaRPr lang="en-US" sz="2000" kern="1200"/>
        </a:p>
      </dsp:txBody>
      <dsp:txXfrm>
        <a:off x="2846750" y="9591"/>
        <a:ext cx="2493511" cy="694520"/>
      </dsp:txXfrm>
    </dsp:sp>
    <dsp:sp modelId="{30E137A8-854D-4D03-A454-504CB52837DA}">
      <dsp:nvSpPr>
        <dsp:cNvPr id="0" name=""/>
        <dsp:cNvSpPr/>
      </dsp:nvSpPr>
      <dsp:spPr>
        <a:xfrm>
          <a:off x="2846750" y="704111"/>
          <a:ext cx="2493511" cy="2964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Converted price from text ($10,000) to a float (10000.0)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Odometers converted to integers.</a:t>
          </a:r>
        </a:p>
      </dsp:txBody>
      <dsp:txXfrm>
        <a:off x="2846750" y="704111"/>
        <a:ext cx="2493511" cy="2964599"/>
      </dsp:txXfrm>
    </dsp:sp>
    <dsp:sp modelId="{C1230D7A-42CA-4EAF-99BD-5C858AE7718A}">
      <dsp:nvSpPr>
        <dsp:cNvPr id="0" name=""/>
        <dsp:cNvSpPr/>
      </dsp:nvSpPr>
      <dsp:spPr>
        <a:xfrm>
          <a:off x="5689353" y="9591"/>
          <a:ext cx="2493511" cy="694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Filled Missing Values:</a:t>
          </a:r>
          <a:endParaRPr lang="en-US" sz="2000" kern="1200"/>
        </a:p>
      </dsp:txBody>
      <dsp:txXfrm>
        <a:off x="5689353" y="9591"/>
        <a:ext cx="2493511" cy="694520"/>
      </dsp:txXfrm>
    </dsp:sp>
    <dsp:sp modelId="{4F4231CD-6C41-422F-B8FA-5D4BD5244100}">
      <dsp:nvSpPr>
        <dsp:cNvPr id="0" name=""/>
        <dsp:cNvSpPr/>
      </dsp:nvSpPr>
      <dsp:spPr>
        <a:xfrm>
          <a:off x="5689353" y="704111"/>
          <a:ext cx="2493511" cy="2964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Filled blank condition and fuel fields with "unknown".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Dropped fields missing critical values.</a:t>
          </a:r>
        </a:p>
      </dsp:txBody>
      <dsp:txXfrm>
        <a:off x="5689353" y="704111"/>
        <a:ext cx="2493511" cy="2964599"/>
      </dsp:txXfrm>
    </dsp:sp>
    <dsp:sp modelId="{7FC9AEDD-BD3F-40DE-B2DF-11F71C372080}">
      <dsp:nvSpPr>
        <dsp:cNvPr id="0" name=""/>
        <dsp:cNvSpPr/>
      </dsp:nvSpPr>
      <dsp:spPr>
        <a:xfrm>
          <a:off x="8531956" y="9591"/>
          <a:ext cx="2493511" cy="6945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Filtered Outliers:</a:t>
          </a:r>
          <a:endParaRPr lang="en-US" sz="2000" kern="1200"/>
        </a:p>
      </dsp:txBody>
      <dsp:txXfrm>
        <a:off x="8531956" y="9591"/>
        <a:ext cx="2493511" cy="694520"/>
      </dsp:txXfrm>
    </dsp:sp>
    <dsp:sp modelId="{4BEA5645-2963-4C51-821A-08433C6EB670}">
      <dsp:nvSpPr>
        <dsp:cNvPr id="0" name=""/>
        <dsp:cNvSpPr/>
      </dsp:nvSpPr>
      <dsp:spPr>
        <a:xfrm>
          <a:off x="8531956" y="704111"/>
          <a:ext cx="2493511" cy="2964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Removed junk listings ($0 cars, really high outlier prices).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Kept age modern to avoid price alterations due to outside influence (classic cars)</a:t>
          </a:r>
        </a:p>
      </dsp:txBody>
      <dsp:txXfrm>
        <a:off x="8531956" y="704111"/>
        <a:ext cx="2493511" cy="2964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10/8/2025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Pricing: Promoting Fairness in the Used car 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By: Torrodjae Somerville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DD6B-5350-FB8B-3850-1EF87505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2437-1583-8FDF-7D4B-5860363E3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Topic:</a:t>
            </a:r>
            <a:r>
              <a:rPr lang="en-US" dirty="0"/>
              <a:t> Promoting Fairness in the Used Car Market through Data-Driven Pricing.</a:t>
            </a:r>
          </a:p>
          <a:p>
            <a:r>
              <a:rPr lang="en-US" b="1" dirty="0"/>
              <a:t>Research/Data Questions:</a:t>
            </a:r>
            <a:r>
              <a:rPr lang="en-US" dirty="0"/>
              <a:t> (You have these, just list them here)</a:t>
            </a:r>
          </a:p>
          <a:p>
            <a:pPr lvl="1"/>
            <a:r>
              <a:rPr lang="en-US" dirty="0"/>
              <a:t>What is the relationship between a vehicle's age, mileage, and its listing price?</a:t>
            </a:r>
          </a:p>
          <a:p>
            <a:pPr lvl="1"/>
            <a:r>
              <a:rPr lang="en-US" dirty="0"/>
              <a:t>How do vehicle type and condition influence pricing trends and volatility?</a:t>
            </a:r>
          </a:p>
          <a:p>
            <a:pPr lvl="1"/>
            <a:r>
              <a:rPr lang="en-US" dirty="0"/>
              <a:t>What are the key features that signal a "good deal" or a potential premium?</a:t>
            </a:r>
          </a:p>
          <a:p>
            <a:r>
              <a:rPr lang="en-US" b="1" dirty="0"/>
              <a:t>Objectives &amp; Goals:</a:t>
            </a:r>
            <a:r>
              <a:rPr lang="en-US" dirty="0"/>
              <a:t> To uncover the true factors that determine a used car's value, identify pricing anomalies, and empower buyers and sellers with transparent, data-backed insights.</a:t>
            </a:r>
          </a:p>
          <a:p>
            <a:r>
              <a:rPr lang="en-US" b="1" dirty="0"/>
              <a:t>Why this topic?</a:t>
            </a:r>
            <a:r>
              <a:rPr lang="en-US" dirty="0"/>
              <a:t> The used car market is massive and often opaque. Consumers can easily overpay or undervalue their vehicles. Data can help demystify this process and promote fairer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33302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92B9DB-A794-CC4E-4FC3-06954E99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ingestion -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16B0-99FC-D458-D3CD-38C14CE5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Source &amp; Creator: </a:t>
            </a:r>
            <a:r>
              <a:rPr lang="en-US" dirty="0"/>
              <a:t>The dataset is called “Used Cars Dataset”. It was put together by Austin Reese, a data scientist, and shared on Kaggle.</a:t>
            </a:r>
          </a:p>
          <a:p>
            <a:r>
              <a:rPr lang="en-US" b="1" dirty="0"/>
              <a:t>Where It Came From:</a:t>
            </a:r>
            <a:r>
              <a:rPr lang="en-US" dirty="0"/>
              <a:t> The data was scraped from Craigslist listings to give a clear look at the U.S. used car market.</a:t>
            </a:r>
          </a:p>
          <a:p>
            <a:r>
              <a:rPr lang="en-US" b="1" dirty="0"/>
              <a:t>How It Was Collected: </a:t>
            </a:r>
            <a:r>
              <a:rPr lang="en-US" dirty="0"/>
              <a:t>Reese used a web scraper to pull listing details, then cleaned and organized them into one dataset.</a:t>
            </a:r>
          </a:p>
          <a:p>
            <a:r>
              <a:rPr lang="en-US" b="1" dirty="0"/>
              <a:t>Frequency:</a:t>
            </a:r>
            <a:r>
              <a:rPr lang="en-US" dirty="0"/>
              <a:t> Craigslist updates all the time, but this dataset is just a snapshot from one scraping point in 2022.</a:t>
            </a:r>
          </a:p>
          <a:p>
            <a:r>
              <a:rPr lang="en-US" b="1" dirty="0"/>
              <a:t>Why It Was Collected: </a:t>
            </a:r>
            <a:r>
              <a:rPr lang="en-US" dirty="0"/>
              <a:t>To study prices, trends, and help build models that can predict car values. What’s Inside: Info on prices, makes and models, car condition, mileage, fuel types, transmissions, and locations.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8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28DA-0813-31FE-617C-518CC93F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The raw data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5C442B-1BF2-453A-6CC6-535EE95338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8121" y="1929283"/>
            <a:ext cx="7348916" cy="4850283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5125-250A-E7EC-ED6D-AD2CC6A38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97037" y="2228003"/>
            <a:ext cx="4260501" cy="3578777"/>
          </a:xfrm>
        </p:spPr>
        <p:txBody>
          <a:bodyPr anchor="ctr">
            <a:normAutofit fontScale="92500" lnSpcReduction="10000"/>
          </a:bodyPr>
          <a:lstStyle/>
          <a:p>
            <a:r>
              <a:rPr lang="en-US" b="1" dirty="0"/>
              <a:t>Size: </a:t>
            </a:r>
            <a:r>
              <a:rPr lang="en-US" dirty="0"/>
              <a:t>426,880 rows, 26 columns</a:t>
            </a:r>
          </a:p>
          <a:p>
            <a:endParaRPr lang="en-US" dirty="0"/>
          </a:p>
          <a:p>
            <a:r>
              <a:rPr lang="en-US" b="1" dirty="0"/>
              <a:t>Scope: </a:t>
            </a:r>
            <a:r>
              <a:rPr lang="en-US" dirty="0"/>
              <a:t>Listings from all model years (1948-2023)</a:t>
            </a:r>
          </a:p>
          <a:p>
            <a:endParaRPr lang="en-US" dirty="0"/>
          </a:p>
          <a:p>
            <a:r>
              <a:rPr lang="en-US" b="1" dirty="0"/>
              <a:t>What's in a row? </a:t>
            </a:r>
            <a:r>
              <a:rPr lang="en-US" dirty="0"/>
              <a:t>Each row is one car listing.</a:t>
            </a:r>
          </a:p>
          <a:p>
            <a:endParaRPr lang="en-US" dirty="0"/>
          </a:p>
          <a:p>
            <a:r>
              <a:rPr lang="en-US" b="1" dirty="0"/>
              <a:t>Problem here: </a:t>
            </a:r>
            <a:r>
              <a:rPr lang="en-US" dirty="0"/>
              <a:t>Data is messy – contains errors, possible duplicates, and outliers.</a:t>
            </a:r>
          </a:p>
          <a:p>
            <a:r>
              <a:rPr lang="en-US" dirty="0" err="1"/>
              <a:t>NaN</a:t>
            </a:r>
            <a:r>
              <a:rPr lang="en-US" dirty="0"/>
              <a:t> = variable may need to be changed</a:t>
            </a:r>
          </a:p>
        </p:txBody>
      </p:sp>
    </p:spTree>
    <p:extLst>
      <p:ext uri="{BB962C8B-B14F-4D97-AF65-F5344CB8AC3E}">
        <p14:creationId xmlns:p14="http://schemas.microsoft.com/office/powerpoint/2010/main" val="1858935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1C9666-71E3-0A2F-17B9-E3F5C45D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Focusing the dataset for analysis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7797E7C2-33A6-743F-7E14-8BE4AC976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8435102"/>
              </p:ext>
            </p:extLst>
          </p:nvPr>
        </p:nvGraphicFramePr>
        <p:xfrm>
          <a:off x="581192" y="2180496"/>
          <a:ext cx="11029615" cy="4053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610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4B60-5C15-CCE6-661C-AAB8F0C27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Data wrangling – my cleaning 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F4FB6C4-FF91-8D84-695D-D4FB2C5212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577098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065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467B-9852-C7D4-F3A8-DF7A4361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dirty="0"/>
              <a:t>Key data features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15A45E-5083-5EFE-7E46-FDF4B996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/>
              <a:t>Target Variable: 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Price: </a:t>
            </a:r>
            <a:r>
              <a:rPr lang="en-US" sz="1800"/>
              <a:t>The listing price (USD). This is what we want to understand and predict.</a:t>
            </a:r>
          </a:p>
          <a:p>
            <a:pPr>
              <a:lnSpc>
                <a:spcPct val="90000"/>
              </a:lnSpc>
            </a:pPr>
            <a:r>
              <a:rPr lang="en-US" b="1"/>
              <a:t>Core Predictive Features: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Year: </a:t>
            </a:r>
            <a:r>
              <a:rPr lang="en-US" sz="1800"/>
              <a:t>Age is a primary driver of value. Newer models command higher prices.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Manufacturer: </a:t>
            </a:r>
            <a:r>
              <a:rPr lang="en-US" sz="1800"/>
              <a:t>The brand (Toyota, BMW) is a key indicator of cost, reliability, and prestige.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Model: </a:t>
            </a:r>
            <a:r>
              <a:rPr lang="en-US" sz="1800"/>
              <a:t>The specific model name (F-150, Camry) defines the vehicle's type and market segment.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Condition: </a:t>
            </a:r>
            <a:r>
              <a:rPr lang="en-US" sz="1800"/>
              <a:t>The state of the vehicle (excellent, good, fair) directly impacts its worth.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Odometer: </a:t>
            </a:r>
            <a:r>
              <a:rPr lang="en-US" sz="1800"/>
              <a:t>Mileage is a direct measure of use and wear, a critical factor for valuation.</a:t>
            </a:r>
          </a:p>
          <a:p>
            <a:pPr lvl="1">
              <a:lnSpc>
                <a:spcPct val="90000"/>
              </a:lnSpc>
            </a:pPr>
            <a:r>
              <a:rPr lang="en-US" sz="1800" b="1"/>
              <a:t>fuel: </a:t>
            </a:r>
            <a:r>
              <a:rPr lang="en-US" sz="1800"/>
              <a:t>Fuel type (gas, hybrid, electric) affects operating costs and desirability, influencing price.</a:t>
            </a:r>
          </a:p>
          <a:p>
            <a:pPr lvl="1">
              <a:lnSpc>
                <a:spcPct val="90000"/>
              </a:lnSpc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2466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BEB8-EC53-F823-01D7-6B404901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The Final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0AE24-0AF4-C585-F59C-37B4752EE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en-US" b="1" dirty="0"/>
              <a:t>Final Size: </a:t>
            </a:r>
            <a:r>
              <a:rPr lang="en-US" dirty="0"/>
              <a:t>Final dataset: 365,671 rows × 11 columns (14% reduction from original)</a:t>
            </a:r>
          </a:p>
          <a:p>
            <a:r>
              <a:rPr lang="en-US" b="1" dirty="0"/>
              <a:t>Data Quality: </a:t>
            </a:r>
            <a:r>
              <a:rPr lang="en-US" dirty="0"/>
              <a:t>High quality missing duplicates (found using the vin#) as well as now having uniform data a little more specific to what I’m doing. (Like modern model years)</a:t>
            </a:r>
          </a:p>
          <a:p>
            <a:r>
              <a:rPr lang="en-US" dirty="0"/>
              <a:t>Much more manipulation friendly now.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8ECB514-0993-6E71-7136-80576E28AA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29868" y="2884602"/>
            <a:ext cx="5221454" cy="2366128"/>
          </a:xfrm>
        </p:spPr>
      </p:pic>
    </p:spTree>
    <p:extLst>
      <p:ext uri="{BB962C8B-B14F-4D97-AF65-F5344CB8AC3E}">
        <p14:creationId xmlns:p14="http://schemas.microsoft.com/office/powerpoint/2010/main" val="188240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4AB7-2A09-95A6-FF44-B69FD13C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Summary Statistics: Showing my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835E5-F931-2121-8B54-1D1F6A9B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/>
          </a:bodyPr>
          <a:lstStyle/>
          <a:p>
            <a:r>
              <a:rPr lang="en-US" b="1" dirty="0"/>
              <a:t>Caption: </a:t>
            </a:r>
            <a:r>
              <a:rPr lang="en-US" dirty="0"/>
              <a:t>Summary of key numerical fields after cleaning.</a:t>
            </a:r>
          </a:p>
          <a:p>
            <a:r>
              <a:rPr lang="en-US" b="1" dirty="0"/>
              <a:t>Insights:</a:t>
            </a:r>
          </a:p>
          <a:p>
            <a:pPr lvl="1"/>
            <a:r>
              <a:rPr lang="en-US" sz="1800" dirty="0"/>
              <a:t>The average car price is ~$19,085.44</a:t>
            </a:r>
          </a:p>
          <a:p>
            <a:pPr lvl="1"/>
            <a:r>
              <a:rPr lang="en-US" sz="1800" dirty="0"/>
              <a:t>The average model year is 2011.</a:t>
            </a:r>
          </a:p>
          <a:p>
            <a:pPr lvl="1"/>
            <a:r>
              <a:rPr lang="en-US" sz="1800" dirty="0"/>
              <a:t>The average mileage is 97,460.</a:t>
            </a:r>
          </a:p>
          <a:p>
            <a:pPr lvl="1"/>
            <a:r>
              <a:rPr lang="en-US" sz="1800" dirty="0"/>
              <a:t>Prices found here will be slightly inflated compared to now due market change over the years.</a:t>
            </a: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F80813E-80DD-63A8-6E16-6A27DD4CFB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4724" y="2227263"/>
            <a:ext cx="5543693" cy="3804097"/>
          </a:xfrm>
        </p:spPr>
      </p:pic>
    </p:spTree>
    <p:extLst>
      <p:ext uri="{BB962C8B-B14F-4D97-AF65-F5344CB8AC3E}">
        <p14:creationId xmlns:p14="http://schemas.microsoft.com/office/powerpoint/2010/main" val="282929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47EBD0-95DB-4F0F-53D6-8CEAAFF2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analytic dataset and cleaning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8E29C9-7057-809E-547D-2D1B0E2F5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Source:</a:t>
            </a:r>
            <a:r>
              <a:rPr lang="en-US" dirty="0"/>
              <a:t> Austin Reeves' "Used Cars Dataset" from Kaggle.</a:t>
            </a:r>
          </a:p>
          <a:p>
            <a:r>
              <a:rPr lang="en-US" b="1" dirty="0"/>
              <a:t>Initial Size:</a:t>
            </a:r>
            <a:r>
              <a:rPr lang="en-US" dirty="0"/>
              <a:t> 426,880 rows × 26 columns</a:t>
            </a:r>
          </a:p>
          <a:p>
            <a:r>
              <a:rPr lang="en-US" b="1" dirty="0"/>
              <a:t>Final Size:</a:t>
            </a:r>
            <a:r>
              <a:rPr lang="en-US" dirty="0"/>
              <a:t> 365,671 rows × 15 columns</a:t>
            </a:r>
          </a:p>
          <a:p>
            <a:r>
              <a:rPr lang="en-US" b="1" dirty="0"/>
              <a:t>Cleaning Steps:</a:t>
            </a:r>
            <a:endParaRPr lang="en-US" dirty="0"/>
          </a:p>
          <a:p>
            <a:pPr lvl="1"/>
            <a:r>
              <a:rPr lang="en-US" dirty="0"/>
              <a:t>Removed unrealistic prices (&lt;$500, &gt;$90,000)</a:t>
            </a:r>
          </a:p>
          <a:p>
            <a:pPr lvl="1"/>
            <a:r>
              <a:rPr lang="en-US" dirty="0"/>
              <a:t>Removed classic cars (model year ≤ 1948) per Classic Car Club of America guidelines</a:t>
            </a:r>
          </a:p>
          <a:p>
            <a:pPr lvl="1"/>
            <a:r>
              <a:rPr lang="en-US" dirty="0"/>
              <a:t>Filtered out extreme odometer readings</a:t>
            </a:r>
          </a:p>
          <a:p>
            <a:pPr lvl="1"/>
            <a:r>
              <a:rPr lang="en-US" dirty="0"/>
              <a:t>Dropped rows with missing critical data</a:t>
            </a:r>
          </a:p>
        </p:txBody>
      </p:sp>
    </p:spTree>
    <p:extLst>
      <p:ext uri="{BB962C8B-B14F-4D97-AF65-F5344CB8AC3E}">
        <p14:creationId xmlns:p14="http://schemas.microsoft.com/office/powerpoint/2010/main" val="338216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00B8-8653-1F69-F8CB-BE5F391E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10E65-8734-91D9-D384-330D679FC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2"/>
            <a:ext cx="5422390" cy="43613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age: </a:t>
            </a:r>
            <a:r>
              <a:rPr lang="en-US" dirty="0"/>
              <a:t>Created from year (2023 - year). A more intuitive measure for depreciation.</a:t>
            </a:r>
          </a:p>
          <a:p>
            <a:pPr marL="0" indent="0">
              <a:buNone/>
            </a:pPr>
            <a:r>
              <a:rPr lang="en-US" b="1" dirty="0"/>
              <a:t>Why This Was Essential:</a:t>
            </a:r>
            <a:endParaRPr lang="en-US" dirty="0"/>
          </a:p>
          <a:p>
            <a:r>
              <a:rPr lang="en-US" b="1" dirty="0"/>
              <a:t>Business Insight:</a:t>
            </a:r>
            <a:r>
              <a:rPr lang="en-US" dirty="0"/>
              <a:t> Cars depreciate with age, not model year - a 2015 car is worth less in 2023 simply because it's older</a:t>
            </a:r>
          </a:p>
          <a:p>
            <a:r>
              <a:rPr lang="en-US" b="1" dirty="0"/>
              <a:t>Analytical Value:</a:t>
            </a:r>
            <a:r>
              <a:rPr lang="en-US" dirty="0"/>
              <a:t> Age creates a linear relationship with price that model year alone doesn't capture</a:t>
            </a:r>
          </a:p>
          <a:p>
            <a:r>
              <a:rPr lang="en-US" b="1" dirty="0"/>
              <a:t>Real-world Application:</a:t>
            </a:r>
            <a:r>
              <a:rPr lang="en-US" dirty="0"/>
              <a:t> Insurance companies and lenders use vehicle age, not model year, for valuation models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miles_per_year</a:t>
            </a:r>
            <a:r>
              <a:rPr lang="en-US" b="1" dirty="0"/>
              <a:t>: </a:t>
            </a:r>
            <a:r>
              <a:rPr lang="en-US" dirty="0"/>
              <a:t>Created from odometer / age. (Identifies excessively or sparingly used vehicles.)</a:t>
            </a:r>
          </a:p>
          <a:p>
            <a:pPr marL="0" indent="0">
              <a:buNone/>
            </a:pPr>
            <a:r>
              <a:rPr lang="en-US" b="1" dirty="0"/>
              <a:t>Why I felt it was needed:</a:t>
            </a:r>
          </a:p>
          <a:p>
            <a:r>
              <a:rPr lang="en-US" b="1" dirty="0"/>
              <a:t>Critical Insight:</a:t>
            </a:r>
            <a:r>
              <a:rPr lang="en-US" dirty="0"/>
              <a:t> Total mileage alone is misleading - 100,000 miles over 2 years vs. 8 years indicates completely different wear patterns</a:t>
            </a:r>
          </a:p>
          <a:p>
            <a:r>
              <a:rPr lang="en-US" b="1" dirty="0"/>
              <a:t>Risk Assessment:</a:t>
            </a:r>
            <a:r>
              <a:rPr lang="en-US" dirty="0"/>
              <a:t> High </a:t>
            </a:r>
            <a:r>
              <a:rPr lang="en-US" dirty="0" err="1"/>
              <a:t>miles_per_year</a:t>
            </a:r>
            <a:r>
              <a:rPr lang="en-US" dirty="0"/>
              <a:t> (&gt;15k) suggests highway/rental/fleet use with more mechanical stress</a:t>
            </a:r>
          </a:p>
          <a:p>
            <a:r>
              <a:rPr lang="en-US" b="1" dirty="0"/>
              <a:t>Value Preservation:</a:t>
            </a:r>
            <a:r>
              <a:rPr lang="en-US" dirty="0"/>
              <a:t> Low </a:t>
            </a:r>
            <a:r>
              <a:rPr lang="en-US" dirty="0" err="1"/>
              <a:t>miles_per_year</a:t>
            </a:r>
            <a:r>
              <a:rPr lang="en-US" dirty="0"/>
              <a:t> (&lt;8k) often indicates well-maintained, garage-kept vehicles that hold value better</a:t>
            </a:r>
          </a:p>
        </p:txBody>
      </p:sp>
      <p:pic>
        <p:nvPicPr>
          <p:cNvPr id="6" name="Content Placeholder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F1F5D15-B6AD-6335-EF84-DE2DD0D010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7586" y="2775167"/>
            <a:ext cx="5006872" cy="988332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AFCD08-9592-3E8F-CDF3-88E8903C1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419" y="4408668"/>
            <a:ext cx="5496477" cy="91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77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90AA-9DFC-2D7D-19FD-1170CFEA4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8285-8D60-9601-4B45-D6D1E71D99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/>
              <a:t>condition_clean</a:t>
            </a:r>
            <a:r>
              <a:rPr lang="en-US" b="1" dirty="0"/>
              <a:t>:</a:t>
            </a:r>
            <a:r>
              <a:rPr lang="en-US" dirty="0"/>
              <a:t> Consolidated 8+ original values into 5 clear categories (Salvage, Fair, Good, Excellent, Like New / New too many subsections of </a:t>
            </a:r>
            <a:r>
              <a:rPr lang="en-US" dirty="0" err="1"/>
              <a:t>samething</a:t>
            </a:r>
            <a:r>
              <a:rPr lang="en-US" dirty="0"/>
              <a:t>).</a:t>
            </a:r>
          </a:p>
          <a:p>
            <a:r>
              <a:rPr lang="en-US" b="1" dirty="0" err="1"/>
              <a:t>price_category</a:t>
            </a:r>
            <a:r>
              <a:rPr lang="en-US" b="1" dirty="0"/>
              <a:t>:</a:t>
            </a:r>
            <a:r>
              <a:rPr lang="en-US" dirty="0"/>
              <a:t> Binned prices using Edmunds' used car classification. </a:t>
            </a:r>
          </a:p>
          <a:p>
            <a:pPr marL="0" indent="0">
              <a:buNone/>
            </a:pPr>
            <a:r>
              <a:rPr lang="en-US" dirty="0"/>
              <a:t>Why I felt categorizing the prices was needed</a:t>
            </a:r>
          </a:p>
          <a:p>
            <a:r>
              <a:rPr lang="en-US" b="1" dirty="0"/>
              <a:t>Binning Method:</a:t>
            </a:r>
            <a:r>
              <a:rPr lang="en-US" dirty="0"/>
              <a:t> Applied supervised binning using industry-standard price thresholds from Edmunds</a:t>
            </a:r>
          </a:p>
          <a:p>
            <a:r>
              <a:rPr lang="en-US" b="1" dirty="0"/>
              <a:t>Market Segmentation:</a:t>
            </a:r>
            <a:r>
              <a:rPr lang="en-US" dirty="0"/>
              <a:t> Created three strategic price bins (Budget, Mid-Range, Luxury) to analyze brand positioning</a:t>
            </a:r>
          </a:p>
          <a:p>
            <a:r>
              <a:rPr lang="en-US" b="1" dirty="0"/>
              <a:t>Analytical Power:</a:t>
            </a:r>
            <a:r>
              <a:rPr lang="en-US" dirty="0"/>
              <a:t> </a:t>
            </a:r>
            <a:r>
              <a:rPr lang="en-US" b="1" dirty="0"/>
              <a:t>This binning process</a:t>
            </a:r>
            <a:r>
              <a:rPr lang="en-US" dirty="0"/>
              <a:t> transformed continuous price data into categorical segments, enabling clear market tier analysis</a:t>
            </a:r>
          </a:p>
          <a:p>
            <a:r>
              <a:rPr lang="en-US" b="1" dirty="0"/>
              <a:t>Consumer Insight:</a:t>
            </a:r>
            <a:r>
              <a:rPr lang="en-US" dirty="0"/>
              <a:t> </a:t>
            </a:r>
            <a:r>
              <a:rPr lang="en-US" b="1" dirty="0"/>
              <a:t>The price binning</a:t>
            </a:r>
            <a:r>
              <a:rPr lang="en-US" dirty="0"/>
              <a:t> reveals how different buyer segments shop across price ranges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4E9E5E1D-4A40-7F53-9BC5-A03C77D7B0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03583" y="2950480"/>
            <a:ext cx="6069954" cy="1976445"/>
          </a:xfrm>
        </p:spPr>
      </p:pic>
    </p:spTree>
    <p:extLst>
      <p:ext uri="{BB962C8B-B14F-4D97-AF65-F5344CB8AC3E}">
        <p14:creationId xmlns:p14="http://schemas.microsoft.com/office/powerpoint/2010/main" val="20710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61ED-1AC4-93AC-6B56-64F821CC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Feature Engineering - Price Categories (Edmunds)</a:t>
            </a:r>
          </a:p>
        </p:txBody>
      </p:sp>
      <p:pic>
        <p:nvPicPr>
          <p:cNvPr id="7" name="Content Placeholder 6" descr="A graph of a vehicle count">
            <a:extLst>
              <a:ext uri="{FF2B5EF4-FFF2-40B4-BE49-F238E27FC236}">
                <a16:creationId xmlns:a16="http://schemas.microsoft.com/office/drawing/2014/main" id="{EAC6E024-8FB3-AEA1-0F67-031F28F49A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3" y="2417810"/>
            <a:ext cx="5422390" cy="3253433"/>
          </a:xfr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59E3D-635B-D97F-F1A8-50A12011F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created a new feature, </a:t>
            </a:r>
            <a:r>
              <a:rPr lang="en-US" sz="1400" b="1" dirty="0" err="1"/>
              <a:t>price_category</a:t>
            </a:r>
            <a:r>
              <a:rPr lang="en-US" sz="1400" dirty="0"/>
              <a:t>, by binning prices according to </a:t>
            </a:r>
            <a:r>
              <a:rPr lang="en-US" sz="1400" b="1" dirty="0"/>
              <a:t>Edmunds' used car classification</a:t>
            </a:r>
            <a:r>
              <a:rPr lang="en-US" sz="14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Budget:</a:t>
            </a:r>
            <a:r>
              <a:rPr lang="en-US" sz="1400" dirty="0"/>
              <a:t> $0 - $15,000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Mid-Range:</a:t>
            </a:r>
            <a:r>
              <a:rPr lang="en-US" sz="1400" dirty="0"/>
              <a:t> $15,000 - $30,000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Luxury:</a:t>
            </a:r>
            <a:r>
              <a:rPr lang="en-US" sz="1400" dirty="0"/>
              <a:t> $30,000+</a:t>
            </a:r>
          </a:p>
          <a:p>
            <a:pPr>
              <a:lnSpc>
                <a:spcPct val="90000"/>
              </a:lnSpc>
            </a:pPr>
            <a:r>
              <a:rPr lang="en-US" sz="1400" i="1" dirty="0"/>
              <a:t>Source: Edmunds, "Used Car Valuation: How Much Is Your Car Worth?"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b="1" dirty="0"/>
              <a:t>Key Insight:</a:t>
            </a:r>
            <a:r>
              <a:rPr lang="en-US" sz="1400" dirty="0"/>
              <a:t> This chart reveals clear brand positioning. (top 8 brands)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Ford</a:t>
            </a:r>
            <a:r>
              <a:rPr lang="en-US" sz="1400" dirty="0"/>
              <a:t> and </a:t>
            </a:r>
            <a:r>
              <a:rPr lang="en-US" sz="1400" b="1" dirty="0"/>
              <a:t>Chevrolet</a:t>
            </a:r>
            <a:r>
              <a:rPr lang="en-US" sz="1400" dirty="0"/>
              <a:t> dominate the </a:t>
            </a:r>
            <a:r>
              <a:rPr lang="en-US" sz="1400" b="1" dirty="0"/>
              <a:t>Budget</a:t>
            </a:r>
            <a:r>
              <a:rPr lang="en-US" sz="1400" dirty="0"/>
              <a:t> and </a:t>
            </a:r>
            <a:r>
              <a:rPr lang="en-US" sz="1400" b="1" dirty="0"/>
              <a:t>Mid-Range</a:t>
            </a:r>
            <a:r>
              <a:rPr lang="en-US" sz="1400" dirty="0"/>
              <a:t> segments.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BMW</a:t>
            </a:r>
            <a:r>
              <a:rPr lang="en-US" sz="1400" dirty="0"/>
              <a:t> consists of a considerable luxury section given it’s size  the </a:t>
            </a:r>
            <a:r>
              <a:rPr lang="en-US" sz="1400" b="1" dirty="0"/>
              <a:t>Luxury</a:t>
            </a:r>
            <a:r>
              <a:rPr lang="en-US" sz="1400" dirty="0"/>
              <a:t> segment.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Honda</a:t>
            </a:r>
            <a:r>
              <a:rPr lang="en-US" sz="1400" dirty="0"/>
              <a:t> and </a:t>
            </a:r>
            <a:r>
              <a:rPr lang="en-US" sz="1400" b="1" dirty="0"/>
              <a:t>Nissan</a:t>
            </a:r>
            <a:r>
              <a:rPr lang="en-US" sz="1400" dirty="0"/>
              <a:t> show a trend, presence across the  categories. Showing they don’t have many luxury portions but are made mostly of budget vehicles this could be a key area to give insight on what manufacturer to look into based on a customers price range. (combine mileage and price to see which vehicles hold more value over time)</a:t>
            </a:r>
          </a:p>
        </p:txBody>
      </p:sp>
    </p:spTree>
    <p:extLst>
      <p:ext uri="{BB962C8B-B14F-4D97-AF65-F5344CB8AC3E}">
        <p14:creationId xmlns:p14="http://schemas.microsoft.com/office/powerpoint/2010/main" val="3823718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114BDA3-35BD-8689-50BD-5B56FADFE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Finding #2 - The Core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C83D6-6E58-9D3B-AFDD-A0A1B3DEC8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556387"/>
            <a:ext cx="5422390" cy="3923071"/>
          </a:xfrm>
        </p:spPr>
        <p:txBody>
          <a:bodyPr anchor="ctr">
            <a:normAutofit fontScale="92500" lnSpcReduction="10000"/>
          </a:bodyPr>
          <a:lstStyle/>
          <a:p>
            <a:r>
              <a:rPr lang="en-US" b="1" dirty="0"/>
              <a:t>Price vs. Odometer (-0.66):</a:t>
            </a:r>
            <a:r>
              <a:rPr lang="en-US" dirty="0"/>
              <a:t> The strongest negative correlation. Higher mileage is the biggest driver of lower prices.</a:t>
            </a:r>
          </a:p>
          <a:p>
            <a:r>
              <a:rPr lang="en-US" b="1" dirty="0"/>
              <a:t>Price vs. Age (-0.52):</a:t>
            </a:r>
            <a:r>
              <a:rPr lang="en-US" dirty="0"/>
              <a:t> A strong negative correlation confirming vehicle depreciation over time.</a:t>
            </a:r>
          </a:p>
          <a:p>
            <a:r>
              <a:rPr lang="en-US" b="1" dirty="0"/>
              <a:t>Price vs. Miles/Year (-0.34):</a:t>
            </a:r>
            <a:r>
              <a:rPr lang="en-US" dirty="0"/>
              <a:t> Our engineered feature shows a clear negative relationship,  showing overused vehicles. </a:t>
            </a:r>
            <a:r>
              <a:rPr lang="en-US" b="1" dirty="0"/>
              <a:t>A negative value means</a:t>
            </a:r>
            <a:r>
              <a:rPr lang="en-US" dirty="0"/>
              <a:t> that as the average number of miles driven per year </a:t>
            </a:r>
            <a:r>
              <a:rPr lang="en-US" b="1" dirty="0"/>
              <a:t>increases</a:t>
            </a:r>
            <a:r>
              <a:rPr lang="en-US" dirty="0"/>
              <a:t>, the vehicle's price </a:t>
            </a:r>
            <a:r>
              <a:rPr lang="en-US" b="1" dirty="0"/>
              <a:t>decreases</a:t>
            </a:r>
            <a:r>
              <a:rPr lang="en-US" dirty="0"/>
              <a:t>.</a:t>
            </a:r>
          </a:p>
          <a:p>
            <a:r>
              <a:rPr lang="en-US" dirty="0"/>
              <a:t>This proves that our new feature successfully captures a car's </a:t>
            </a:r>
            <a:r>
              <a:rPr lang="en-US" b="1" dirty="0"/>
              <a:t>usage intensity</a:t>
            </a:r>
            <a:r>
              <a:rPr lang="en-US" dirty="0"/>
              <a:t>. It's no longer just about </a:t>
            </a:r>
            <a:r>
              <a:rPr lang="en-US" i="1" dirty="0"/>
              <a:t>how many</a:t>
            </a:r>
            <a:r>
              <a:rPr lang="en-US" dirty="0"/>
              <a:t> miles are on the odometer, but </a:t>
            </a:r>
            <a:r>
              <a:rPr lang="en-US" i="1" dirty="0"/>
              <a:t>how quickly</a:t>
            </a:r>
            <a:r>
              <a:rPr lang="en-US" dirty="0"/>
              <a:t> those miles were put on the car.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 descr="A diagram of a number of colored squares&#10;&#10;AI-generated content may be incorrect.">
            <a:extLst>
              <a:ext uri="{FF2B5EF4-FFF2-40B4-BE49-F238E27FC236}">
                <a16:creationId xmlns:a16="http://schemas.microsoft.com/office/drawing/2014/main" id="{62EED2FF-F0C5-C392-86E5-4C4D50E2BD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9" y="2143920"/>
            <a:ext cx="6003581" cy="4435634"/>
          </a:xfrm>
          <a:noFill/>
        </p:spPr>
      </p:pic>
    </p:spTree>
    <p:extLst>
      <p:ext uri="{BB962C8B-B14F-4D97-AF65-F5344CB8AC3E}">
        <p14:creationId xmlns:p14="http://schemas.microsoft.com/office/powerpoint/2010/main" val="424358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B869D0E-1A69-A4ED-0CC3-E0FF1D5D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Finding #3 - The Typical Market Landscape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2DCE-C398-3BFB-43DB-FDC06FFC0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421" y="2228003"/>
            <a:ext cx="5607226" cy="3633047"/>
          </a:xfrm>
        </p:spPr>
        <p:txBody>
          <a:bodyPr anchor="ctr">
            <a:normAutofit fontScale="92500" lnSpcReduction="10000"/>
          </a:bodyPr>
          <a:lstStyle/>
          <a:p>
            <a:r>
              <a:rPr lang="en-US" dirty="0"/>
              <a:t>This view shows the </a:t>
            </a:r>
            <a:r>
              <a:rPr lang="en-US" b="1" dirty="0"/>
              <a:t>typical price range</a:t>
            </a:r>
            <a:r>
              <a:rPr lang="en-US" dirty="0"/>
              <a:t> (IQR) for each vehicle type with </a:t>
            </a:r>
            <a:r>
              <a:rPr lang="en-US" b="1" dirty="0"/>
              <a:t>outliers removed</a:t>
            </a:r>
            <a:r>
              <a:rPr lang="en-US" dirty="0"/>
              <a:t> for clarity. Using the IQR method any vehicle below Q1-1.5xIQR or above Q3 + 1.5xIQR was dropped from this visual,</a:t>
            </a:r>
          </a:p>
          <a:p>
            <a:r>
              <a:rPr lang="en-US" dirty="0"/>
              <a:t>Done to allow focus on core price distribution where real purchases would occur, without the distortion from potential scams etc.</a:t>
            </a:r>
          </a:p>
          <a:p>
            <a:r>
              <a:rPr lang="en-US" dirty="0"/>
              <a:t>It establishes a baseline: </a:t>
            </a:r>
            <a:r>
              <a:rPr lang="en-US" b="1" dirty="0"/>
              <a:t>trucks and SUVs</a:t>
            </a:r>
            <a:r>
              <a:rPr lang="en-US" dirty="0"/>
              <a:t> have a higher median value than </a:t>
            </a:r>
            <a:r>
              <a:rPr lang="en-US" b="1" dirty="0"/>
              <a:t>sedans and coupes </a:t>
            </a:r>
            <a:r>
              <a:rPr lang="en-US" dirty="0"/>
              <a:t>so you could expect to spend more there.</a:t>
            </a:r>
          </a:p>
          <a:p>
            <a:r>
              <a:rPr lang="en-US" dirty="0"/>
              <a:t>I removed outliers here to understand the </a:t>
            </a:r>
            <a:r>
              <a:rPr lang="en-US" b="1" dirty="0"/>
              <a:t>core market dynamics</a:t>
            </a:r>
            <a:r>
              <a:rPr lang="en-US" dirty="0"/>
              <a:t> without the large values skewing the view.</a:t>
            </a:r>
          </a:p>
          <a:p>
            <a:endParaRPr lang="en-US" dirty="0"/>
          </a:p>
        </p:txBody>
      </p:sp>
      <p:pic>
        <p:nvPicPr>
          <p:cNvPr id="6" name="Content Placeholder 5" descr="A graph showing a number of blue rectangular objects&#10;&#10;AI-generated content may be incorrect.">
            <a:extLst>
              <a:ext uri="{FF2B5EF4-FFF2-40B4-BE49-F238E27FC236}">
                <a16:creationId xmlns:a16="http://schemas.microsoft.com/office/drawing/2014/main" id="{A4461BB2-108F-B49E-8191-AC00418704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26646" y="2133601"/>
            <a:ext cx="5884163" cy="3991814"/>
          </a:xfrm>
          <a:noFill/>
        </p:spPr>
      </p:pic>
    </p:spTree>
    <p:extLst>
      <p:ext uri="{BB962C8B-B14F-4D97-AF65-F5344CB8AC3E}">
        <p14:creationId xmlns:p14="http://schemas.microsoft.com/office/powerpoint/2010/main" val="1869932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DEF8-6176-40BE-3902-ACE82D0B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Finding #4: Condition modifies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C6629-34E4-5695-B7A5-A9BD1128B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2253" y="2228003"/>
            <a:ext cx="5607226" cy="3762894"/>
          </a:xfrm>
        </p:spPr>
        <p:txBody>
          <a:bodyPr anchor="ctr">
            <a:normAutofit/>
          </a:bodyPr>
          <a:lstStyle/>
          <a:p>
            <a:r>
              <a:rPr lang="en-US" dirty="0"/>
              <a:t>While age dictates the overall price trend, </a:t>
            </a:r>
            <a:r>
              <a:rPr lang="en-US" b="1" dirty="0"/>
              <a:t>condition a key modifier</a:t>
            </a:r>
            <a:r>
              <a:rPr lang="en-US" dirty="0"/>
              <a:t>.</a:t>
            </a:r>
          </a:p>
          <a:p>
            <a:r>
              <a:rPr lang="en-US" dirty="0"/>
              <a:t>At any point on the depreciation curve, a car in </a:t>
            </a:r>
            <a:r>
              <a:rPr lang="en-US" b="1" dirty="0"/>
              <a:t>'Excellent' or 'Like New / New' condition (blue/green)</a:t>
            </a:r>
            <a:r>
              <a:rPr lang="en-US" dirty="0"/>
              <a:t> commands a premium.</a:t>
            </a:r>
          </a:p>
          <a:p>
            <a:r>
              <a:rPr lang="en-US" dirty="0"/>
              <a:t>A </a:t>
            </a:r>
            <a:r>
              <a:rPr lang="en-US" b="1" dirty="0"/>
              <a:t>'Salvage' or 'Fair' title (red/orange)</a:t>
            </a:r>
            <a:r>
              <a:rPr lang="en-US" dirty="0"/>
              <a:t> significantly reduces value, regardless of age.</a:t>
            </a:r>
          </a:p>
          <a:p>
            <a:endParaRPr lang="en-US" dirty="0"/>
          </a:p>
        </p:txBody>
      </p:sp>
      <p:pic>
        <p:nvPicPr>
          <p:cNvPr id="6" name="Content Placeholder 5" descr="A graph of a graph showing a number of colored dots&#10;&#10;AI-generated content may be incorrect.">
            <a:extLst>
              <a:ext uri="{FF2B5EF4-FFF2-40B4-BE49-F238E27FC236}">
                <a16:creationId xmlns:a16="http://schemas.microsoft.com/office/drawing/2014/main" id="{CB153F15-19AE-35BE-2D9A-0DD9F49AFA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375" b="1"/>
          <a:stretch>
            <a:fillRect/>
          </a:stretch>
        </p:blipFill>
        <p:spPr>
          <a:xfrm>
            <a:off x="5789479" y="2228003"/>
            <a:ext cx="6076700" cy="3900339"/>
          </a:xfrm>
          <a:noFill/>
        </p:spPr>
      </p:pic>
    </p:spTree>
    <p:extLst>
      <p:ext uri="{BB962C8B-B14F-4D97-AF65-F5344CB8AC3E}">
        <p14:creationId xmlns:p14="http://schemas.microsoft.com/office/powerpoint/2010/main" val="3084668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F6FD-03E6-FE83-1AD6-CF2BC39F1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/>
              <a:t>Finding #5 Revealing Usage Patterns</a:t>
            </a:r>
          </a:p>
        </p:txBody>
      </p:sp>
      <p:pic>
        <p:nvPicPr>
          <p:cNvPr id="6" name="Content Placeholder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B7ED4AE2-48A9-A737-DF47-EC8FD74D01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203007"/>
            <a:ext cx="6709983" cy="3710342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2628-C9C9-ED9D-39D0-D913FB8F4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9985" y="2228003"/>
            <a:ext cx="5202621" cy="3710342"/>
          </a:xfrm>
        </p:spPr>
        <p:txBody>
          <a:bodyPr anchor="ctr">
            <a:normAutofit/>
          </a:bodyPr>
          <a:lstStyle/>
          <a:p>
            <a:r>
              <a:rPr lang="en-US" dirty="0"/>
              <a:t>My engineered feature, </a:t>
            </a:r>
            <a:r>
              <a:rPr lang="en-US" b="1" dirty="0" err="1"/>
              <a:t>miles_per_year</a:t>
            </a:r>
            <a:r>
              <a:rPr lang="en-US" dirty="0"/>
              <a:t>, reveals how vehicles are used.</a:t>
            </a:r>
          </a:p>
          <a:p>
            <a:r>
              <a:rPr lang="en-US" b="1" dirty="0"/>
              <a:t>Mini-vans, Trucks, and SUVs (Orange)</a:t>
            </a:r>
            <a:r>
              <a:rPr lang="en-US" dirty="0"/>
              <a:t> are </a:t>
            </a:r>
            <a:r>
              <a:rPr lang="en-US" b="1" dirty="0"/>
              <a:t>high-frequency use</a:t>
            </a:r>
            <a:r>
              <a:rPr lang="en-US" dirty="0"/>
              <a:t> vehicles, often for families, work, and daily logistics.</a:t>
            </a:r>
          </a:p>
          <a:p>
            <a:r>
              <a:rPr lang="en-US" b="1" dirty="0"/>
              <a:t>Hatchbacks, Coupes, and Convertibles (Blue)</a:t>
            </a:r>
            <a:r>
              <a:rPr lang="en-US" dirty="0"/>
              <a:t> are </a:t>
            </a:r>
            <a:r>
              <a:rPr lang="en-US" b="1" dirty="0"/>
              <a:t>lower-frequency use</a:t>
            </a:r>
            <a:r>
              <a:rPr lang="en-US" dirty="0"/>
              <a:t> vehicles, often secondary cars or for leisure.</a:t>
            </a:r>
          </a:p>
          <a:p>
            <a:r>
              <a:rPr lang="en-US" dirty="0"/>
              <a:t>This usage directly impacts their depreciation rates and value.</a:t>
            </a:r>
          </a:p>
        </p:txBody>
      </p:sp>
    </p:spTree>
    <p:extLst>
      <p:ext uri="{BB962C8B-B14F-4D97-AF65-F5344CB8AC3E}">
        <p14:creationId xmlns:p14="http://schemas.microsoft.com/office/powerpoint/2010/main" val="81390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7851-CEC5-43AD-809B-4BCDB9DC1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#6: The High-Use Premium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C4C3-7090-3E23-298B-6A6F83FA2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228003"/>
            <a:ext cx="5633545" cy="3633047"/>
          </a:xfrm>
        </p:spPr>
        <p:txBody>
          <a:bodyPr>
            <a:normAutofit/>
          </a:bodyPr>
          <a:lstStyle/>
          <a:p>
            <a:r>
              <a:rPr lang="en-US" dirty="0"/>
              <a:t>This plot tells the story of market demand. We isolated the 3 most-used and 3 least-used vehicle types.</a:t>
            </a:r>
          </a:p>
          <a:p>
            <a:r>
              <a:rPr lang="en-US" b="1" dirty="0"/>
              <a:t>High-use vehicles (Mini-vans, Trucks, SUVs - Orange)</a:t>
            </a:r>
            <a:r>
              <a:rPr lang="en-US" dirty="0"/>
              <a:t> show a </a:t>
            </a:r>
            <a:r>
              <a:rPr lang="en-US" b="1" dirty="0"/>
              <a:t>massive number of high-price outliers</a:t>
            </a:r>
            <a:r>
              <a:rPr lang="en-US" dirty="0"/>
              <a:t>.</a:t>
            </a:r>
          </a:p>
          <a:p>
            <a:r>
              <a:rPr lang="en-US" b="1" dirty="0"/>
              <a:t>Why?</a:t>
            </a:r>
            <a:r>
              <a:rPr lang="en-US" dirty="0"/>
              <a:t> High demand and necessity create a market where sellers can command a premium, leading to both justified high prices and potential scam listings.</a:t>
            </a:r>
          </a:p>
          <a:p>
            <a:r>
              <a:rPr lang="en-US" b="1" dirty="0"/>
              <a:t>Lower-use vehicles (Blue)</a:t>
            </a:r>
            <a:r>
              <a:rPr lang="en-US" dirty="0"/>
              <a:t> show a tighter and more consistent price range with it missing all the potential scams.</a:t>
            </a:r>
          </a:p>
          <a:p>
            <a:endParaRPr lang="en-US" dirty="0"/>
          </a:p>
        </p:txBody>
      </p:sp>
      <p:pic>
        <p:nvPicPr>
          <p:cNvPr id="6" name="Content Placeholder 5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983BE08-E772-16E6-861F-752F1934AC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39570" y="1975945"/>
            <a:ext cx="6463244" cy="4288221"/>
          </a:xfrm>
        </p:spPr>
      </p:pic>
    </p:spTree>
    <p:extLst>
      <p:ext uri="{BB962C8B-B14F-4D97-AF65-F5344CB8AC3E}">
        <p14:creationId xmlns:p14="http://schemas.microsoft.com/office/powerpoint/2010/main" val="765862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DA44-C969-41C8-CFC3-2D1C04FD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retainment</a:t>
            </a:r>
          </a:p>
        </p:txBody>
      </p:sp>
      <p:pic>
        <p:nvPicPr>
          <p:cNvPr id="5" name="Content Placeholder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0274CC19-B79A-FE7E-5D40-559D018C3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758" y="2515184"/>
            <a:ext cx="7230484" cy="3010320"/>
          </a:xfrm>
        </p:spPr>
      </p:pic>
    </p:spTree>
    <p:extLst>
      <p:ext uri="{BB962C8B-B14F-4D97-AF65-F5344CB8AC3E}">
        <p14:creationId xmlns:p14="http://schemas.microsoft.com/office/powerpoint/2010/main" val="27062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C660-2F52-32D9-D00A-2C0B59ED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Insights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BB0B4F-5429-5CCE-DAC5-A00B5063A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77961"/>
            <a:ext cx="11029616" cy="445401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What I Learned from the Data:</a:t>
            </a:r>
            <a:endParaRPr lang="en-US" dirty="0"/>
          </a:p>
          <a:p>
            <a:r>
              <a:rPr lang="en-US" b="1" dirty="0"/>
              <a:t>Price is most strongly driven by mileage and usage intensity,</a:t>
            </a:r>
            <a:r>
              <a:rPr lang="en-US" dirty="0"/>
              <a:t> not just age. Our engineered feature </a:t>
            </a:r>
            <a:r>
              <a:rPr lang="en-US" dirty="0" err="1"/>
              <a:t>miles_per_year</a:t>
            </a:r>
            <a:r>
              <a:rPr lang="en-US" dirty="0"/>
              <a:t> proved to be a powerful predictor.</a:t>
            </a:r>
          </a:p>
          <a:p>
            <a:r>
              <a:rPr lang="en-US" b="1" dirty="0"/>
              <a:t>Condition is a critical value modifier.</a:t>
            </a:r>
            <a:r>
              <a:rPr lang="en-US" dirty="0"/>
              <a:t> A car in 'Excellent' condition can command a significant premium, while a 'Salvage' title drastically reduces value, regardless of age.</a:t>
            </a:r>
          </a:p>
          <a:p>
            <a:r>
              <a:rPr lang="en-US" b="1" dirty="0"/>
              <a:t>Market demand creates pricing anomalies.</a:t>
            </a:r>
            <a:r>
              <a:rPr lang="en-US" dirty="0"/>
              <a:t> High-use vehicles (Trucks, SUVs, Minivans) have a wider range of high-price outliers, reflecting both justified premiums and potential overpricing.</a:t>
            </a:r>
          </a:p>
          <a:p>
            <a:r>
              <a:rPr lang="en-US" b="1" dirty="0"/>
              <a:t>Brand and vehicle type establish a clear pricing baseline.</a:t>
            </a:r>
            <a:r>
              <a:rPr lang="en-US" dirty="0"/>
              <a:t> Understanding this landscape is the first step toward identifying a good deal.</a:t>
            </a:r>
          </a:p>
          <a:p>
            <a:pPr marL="0" indent="0">
              <a:buNone/>
            </a:pPr>
            <a:r>
              <a:rPr lang="en-US" b="1" dirty="0"/>
              <a:t>Most Important Actionable Insights:</a:t>
            </a:r>
            <a:endParaRPr lang="en-US" dirty="0"/>
          </a:p>
          <a:p>
            <a:r>
              <a:rPr lang="en-US" b="1" dirty="0"/>
              <a:t>For Assessing Value:</a:t>
            </a:r>
            <a:r>
              <a:rPr lang="en-US" dirty="0"/>
              <a:t> Look at </a:t>
            </a:r>
            <a:r>
              <a:rPr lang="en-US" dirty="0" err="1"/>
              <a:t>miles_per_year</a:t>
            </a:r>
            <a:r>
              <a:rPr lang="en-US" dirty="0"/>
              <a:t>, not just total odometer reading. A car with 80k miles driven over 2 years is riskier than one driven over 8 years.</a:t>
            </a:r>
          </a:p>
          <a:p>
            <a:r>
              <a:rPr lang="en-US" b="1" dirty="0"/>
              <a:t>For Negotiating:</a:t>
            </a:r>
            <a:r>
              <a:rPr lang="en-US" dirty="0"/>
              <a:t> Condition is a powerful bargaining point. Use the documented value gap between 'Fair' and 'Excellent' to justify offers.</a:t>
            </a:r>
          </a:p>
          <a:p>
            <a:r>
              <a:rPr lang="en-US" b="1" dirty="0"/>
              <a:t>For Buying:</a:t>
            </a:r>
            <a:r>
              <a:rPr lang="en-US" dirty="0"/>
              <a:t> Be highly skeptical of high-price outliers for Trucks and SUVs; the market contains both real premiums and potential scams.</a:t>
            </a:r>
          </a:p>
          <a:p>
            <a:pPr marL="0" indent="0">
              <a:buNone/>
            </a:pPr>
            <a:r>
              <a:rPr lang="en-US" b="1" dirty="0"/>
              <a:t>Realistic Recommendations:</a:t>
            </a:r>
            <a:endParaRPr lang="en-US" dirty="0"/>
          </a:p>
          <a:p>
            <a:r>
              <a:rPr lang="en-US" b="1" dirty="0"/>
              <a:t>For Buyers:</a:t>
            </a:r>
            <a:r>
              <a:rPr lang="en-US" dirty="0"/>
              <a:t> Use a checklist based on our key features (vehicle type, </a:t>
            </a:r>
            <a:r>
              <a:rPr lang="en-US" dirty="0" err="1"/>
              <a:t>miles_per_year</a:t>
            </a:r>
            <a:r>
              <a:rPr lang="en-US" dirty="0"/>
              <a:t>, condition) to quickly identify fair prices and flag potential "too-good-to-be-true" or overpriced listings.</a:t>
            </a:r>
          </a:p>
          <a:p>
            <a:r>
              <a:rPr lang="en-US" b="1" dirty="0"/>
              <a:t>For Sellers:</a:t>
            </a:r>
            <a:r>
              <a:rPr lang="en-US" dirty="0"/>
              <a:t> Price your vehicle according to its </a:t>
            </a:r>
            <a:r>
              <a:rPr lang="en-US" i="1" dirty="0"/>
              <a:t>usage intensity</a:t>
            </a:r>
            <a:r>
              <a:rPr lang="en-US" dirty="0"/>
              <a:t> and be honest about condition. Highlighting a low </a:t>
            </a:r>
            <a:r>
              <a:rPr lang="en-US" dirty="0" err="1"/>
              <a:t>miles_per_year</a:t>
            </a:r>
            <a:r>
              <a:rPr lang="en-US" dirty="0"/>
              <a:t> can justify a higher asking price.</a:t>
            </a:r>
          </a:p>
          <a:p>
            <a:r>
              <a:rPr lang="en-US" b="1" dirty="0"/>
              <a:t>For Platforms (like Craigslist):</a:t>
            </a:r>
            <a:r>
              <a:rPr lang="en-US" dirty="0"/>
              <a:t> Integrate a "Fair Market Value" estimate on listings using these factors to promote transparency and trust.</a:t>
            </a:r>
          </a:p>
        </p:txBody>
      </p:sp>
    </p:spTree>
    <p:extLst>
      <p:ext uri="{BB962C8B-B14F-4D97-AF65-F5344CB8AC3E}">
        <p14:creationId xmlns:p14="http://schemas.microsoft.com/office/powerpoint/2010/main" val="2637681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1C00-7534-CDE5-3B3F-DEE121D2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49663"/>
          </a:xfrm>
        </p:spPr>
        <p:txBody>
          <a:bodyPr/>
          <a:lstStyle/>
          <a:p>
            <a:r>
              <a:rPr lang="en-US" dirty="0"/>
              <a:t>Proposed Data Product: The "FairPrice" Car Valuation Tool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1E979A-F10A-8F35-6BCD-E59907D93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464"/>
            <a:ext cx="11029615" cy="4788309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What it would do:</a:t>
            </a:r>
            <a:r>
              <a:rPr lang="en-US" dirty="0"/>
              <a:t> A web-based application or dashboard where a user inputs their car's details (make, model, year, condition, mileage, fuel type, vehicle type). The tool then uses a machine learning model (trained on your cleaned dataset) to:</a:t>
            </a:r>
          </a:p>
          <a:p>
            <a:pPr lvl="1"/>
            <a:r>
              <a:rPr lang="en-US" dirty="0"/>
              <a:t>Predict a </a:t>
            </a:r>
            <a:r>
              <a:rPr lang="en-US" b="1" dirty="0"/>
              <a:t>fair market value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Flag if the car is a potential </a:t>
            </a:r>
            <a:r>
              <a:rPr lang="en-US" b="1" dirty="0"/>
              <a:t>"Good Deal"</a:t>
            </a:r>
            <a:r>
              <a:rPr lang="en-US" dirty="0"/>
              <a:t> (price significantly below predicted value) or a </a:t>
            </a:r>
            <a:r>
              <a:rPr lang="en-US" b="1" dirty="0"/>
              <a:t>"Premium Listing"</a:t>
            </a:r>
            <a:r>
              <a:rPr lang="en-US" dirty="0"/>
              <a:t> (price significantly above predicted value).</a:t>
            </a:r>
          </a:p>
          <a:p>
            <a:pPr lvl="1"/>
            <a:r>
              <a:rPr lang="en-US" dirty="0"/>
              <a:t>Show how the car compares to the typical market landscape for its type (like your box plot visualization).</a:t>
            </a:r>
          </a:p>
          <a:p>
            <a:r>
              <a:rPr lang="en-US" b="1" dirty="0"/>
              <a:t>Who would use it:</a:t>
            </a:r>
            <a:endParaRPr lang="en-US" dirty="0"/>
          </a:p>
          <a:p>
            <a:pPr lvl="1"/>
            <a:r>
              <a:rPr lang="en-US" b="1" dirty="0"/>
              <a:t>Used Car Buyers:</a:t>
            </a:r>
            <a:r>
              <a:rPr lang="en-US" dirty="0"/>
              <a:t> To avoid overpaying and identify the best value listings.</a:t>
            </a:r>
          </a:p>
          <a:p>
            <a:pPr lvl="1"/>
            <a:r>
              <a:rPr lang="en-US" b="1" dirty="0"/>
              <a:t>Used Car Sellers:</a:t>
            </a:r>
            <a:r>
              <a:rPr lang="en-US" dirty="0"/>
              <a:t> To price their vehicle competitively and realistically for a faster sale.</a:t>
            </a:r>
          </a:p>
          <a:p>
            <a:pPr lvl="1"/>
            <a:r>
              <a:rPr lang="en-US" b="1" dirty="0"/>
              <a:t>Car Dealerships:</a:t>
            </a:r>
            <a:r>
              <a:rPr lang="en-US" dirty="0"/>
              <a:t> To be a bit more in touch with the “real world” market.</a:t>
            </a:r>
          </a:p>
          <a:p>
            <a:r>
              <a:rPr lang="en-US" b="1" dirty="0"/>
              <a:t>How it could provide value:</a:t>
            </a:r>
            <a:endParaRPr lang="en-US" dirty="0"/>
          </a:p>
          <a:p>
            <a:pPr lvl="1"/>
            <a:r>
              <a:rPr lang="en-US" b="1" dirty="0"/>
              <a:t>Democratizes Information:</a:t>
            </a:r>
            <a:r>
              <a:rPr lang="en-US" dirty="0"/>
              <a:t> Puts powerful analytics into the hands of everyday consumers.</a:t>
            </a:r>
          </a:p>
          <a:p>
            <a:pPr lvl="1"/>
            <a:r>
              <a:rPr lang="en-US" b="1" dirty="0"/>
              <a:t>Promotes Fairness:</a:t>
            </a:r>
            <a:r>
              <a:rPr lang="en-US" dirty="0"/>
              <a:t> Directly addresses your project's goal by creating a transparent benchmark for pricing.</a:t>
            </a:r>
          </a:p>
          <a:p>
            <a:pPr lvl="1"/>
            <a:r>
              <a:rPr lang="en-US" b="1" dirty="0"/>
              <a:t>Reduces Risk:</a:t>
            </a:r>
            <a:r>
              <a:rPr lang="en-US" dirty="0"/>
              <a:t> Helps buyers avoid scams (e.g., the "high-price outliers" you identified for trucks/SUVs) and helps sellers understand the impact of condition and usage on their car's value)</a:t>
            </a:r>
          </a:p>
          <a:p>
            <a:pPr lvl="1"/>
            <a:r>
              <a:rPr lang="en-US" dirty="0"/>
              <a:t>Would give more insight on private party sales, than </a:t>
            </a:r>
            <a:r>
              <a:rPr lang="en-US" b="1" dirty="0"/>
              <a:t>KBB </a:t>
            </a:r>
            <a:r>
              <a:rPr lang="en-US" dirty="0"/>
              <a:t>(According to the website is tailored more to whole and dealership sales)</a:t>
            </a:r>
          </a:p>
        </p:txBody>
      </p:sp>
    </p:spTree>
    <p:extLst>
      <p:ext uri="{BB962C8B-B14F-4D97-AF65-F5344CB8AC3E}">
        <p14:creationId xmlns:p14="http://schemas.microsoft.com/office/powerpoint/2010/main" val="4101100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F6D8-DE81-CF4B-80E1-91FE3EE9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Potential Next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D8FB5-007E-A706-2AEF-972E88ACD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49330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Challenges &amp; Pitfalls Encountered:</a:t>
            </a:r>
            <a:endParaRPr lang="en-US" dirty="0"/>
          </a:p>
          <a:p>
            <a:r>
              <a:rPr lang="en-US" b="1" dirty="0"/>
              <a:t>Data Quality Issues:</a:t>
            </a:r>
            <a:endParaRPr lang="en-US" dirty="0"/>
          </a:p>
          <a:p>
            <a:pPr lvl="1"/>
            <a:r>
              <a:rPr lang="en-US" dirty="0"/>
              <a:t>Original dataset contained inconsistent condition labels (8+ variations), missing critical fields, and unrealistic values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Standardized condition categories, removed incomplete records, and applied realistic price/mileage filters</a:t>
            </a:r>
          </a:p>
          <a:p>
            <a:r>
              <a:rPr lang="en-US" b="1" dirty="0"/>
              <a:t>Feature Engineering Complexity:</a:t>
            </a:r>
            <a:endParaRPr lang="en-US" dirty="0"/>
          </a:p>
          <a:p>
            <a:pPr lvl="1"/>
            <a:r>
              <a:rPr lang="en-US" dirty="0"/>
              <a:t>Creating meaningful metrics like </a:t>
            </a:r>
            <a:r>
              <a:rPr lang="en-US" dirty="0" err="1"/>
              <a:t>miles_per_year</a:t>
            </a:r>
            <a:r>
              <a:rPr lang="en-US" dirty="0"/>
              <a:t> required handling edge cases (division by zero for new cars)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Implemented .replace(0, 1) to handle brand new vehicles and validate calculations</a:t>
            </a:r>
          </a:p>
          <a:p>
            <a:r>
              <a:rPr lang="en-US" b="1" dirty="0"/>
              <a:t>Outlier Management:</a:t>
            </a:r>
            <a:endParaRPr lang="en-US" dirty="0"/>
          </a:p>
          <a:p>
            <a:pPr lvl="1"/>
            <a:r>
              <a:rPr lang="en-US" dirty="0"/>
              <a:t>Extreme values in price and mileage skewed initial analysis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Established data boundaries ($500-$90,000 prices, 100k-300k mileage ranges) based on market reality</a:t>
            </a:r>
          </a:p>
          <a:p>
            <a:r>
              <a:rPr lang="en-US" b="1" dirty="0"/>
              <a:t>Missing Context:</a:t>
            </a:r>
            <a:endParaRPr lang="en-US" dirty="0"/>
          </a:p>
          <a:p>
            <a:pPr lvl="1"/>
            <a:r>
              <a:rPr lang="en-US" dirty="0"/>
              <a:t>Raw data lacked important depreciation context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Engineered age and </a:t>
            </a:r>
            <a:r>
              <a:rPr lang="en-US" dirty="0" err="1"/>
              <a:t>price_per_mile</a:t>
            </a:r>
            <a:r>
              <a:rPr lang="en-US" dirty="0"/>
              <a:t> features to better capture true value </a:t>
            </a:r>
            <a:r>
              <a:rPr lang="en-US" dirty="0" err="1"/>
              <a:t>retentio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8C2E5F-7019-F309-8C4B-66BD86FD0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1717990"/>
            <a:ext cx="5422392" cy="500332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Potential Next Steps with More Time:</a:t>
            </a:r>
            <a:endParaRPr lang="en-US" dirty="0"/>
          </a:p>
          <a:p>
            <a:r>
              <a:rPr lang="en-US" b="1" dirty="0"/>
              <a:t>Machine Learning Integration:</a:t>
            </a:r>
            <a:endParaRPr lang="en-US" dirty="0"/>
          </a:p>
          <a:p>
            <a:pPr lvl="1"/>
            <a:r>
              <a:rPr lang="en-US" dirty="0"/>
              <a:t>Build a predictive pricing model using Random Forest or </a:t>
            </a:r>
            <a:r>
              <a:rPr lang="en-US" dirty="0" err="1"/>
              <a:t>XGBoost</a:t>
            </a:r>
            <a:r>
              <a:rPr lang="en-US" dirty="0"/>
              <a:t> to estimate fair market value</a:t>
            </a:r>
          </a:p>
          <a:p>
            <a:pPr lvl="1"/>
            <a:r>
              <a:rPr lang="en-US" dirty="0"/>
              <a:t>Create a "Good Deal" algorithm that flags listings significantly below predicted value</a:t>
            </a:r>
          </a:p>
          <a:p>
            <a:r>
              <a:rPr lang="en-US" b="1" dirty="0"/>
              <a:t>Enhanced Feature Engineering:</a:t>
            </a:r>
            <a:endParaRPr lang="en-US" dirty="0"/>
          </a:p>
          <a:p>
            <a:pPr lvl="1"/>
            <a:r>
              <a:rPr lang="en-US" dirty="0"/>
              <a:t>Incorporate geographic price variations by analyzing regional pricing differences</a:t>
            </a:r>
          </a:p>
          <a:p>
            <a:pPr lvl="1"/>
            <a:r>
              <a:rPr lang="en-US" dirty="0"/>
              <a:t>Add seasonal demand patterns to understand price fluctuations throughout the year</a:t>
            </a:r>
          </a:p>
          <a:p>
            <a:r>
              <a:rPr lang="en-US" b="1" dirty="0"/>
              <a:t>Data Product Development:</a:t>
            </a:r>
            <a:endParaRPr lang="en-US" dirty="0"/>
          </a:p>
          <a:p>
            <a:pPr lvl="1"/>
            <a:r>
              <a:rPr lang="en-US" dirty="0"/>
              <a:t>Create a "FairPrice Calculator" web app for consumers to validate listing prices</a:t>
            </a:r>
          </a:p>
          <a:p>
            <a:pPr lvl="1"/>
            <a:r>
              <a:rPr lang="en-US" dirty="0"/>
              <a:t>Build a dealer dashboard for inventory valuation and pricing optimization</a:t>
            </a:r>
          </a:p>
          <a:p>
            <a:r>
              <a:rPr lang="en-US" b="1" dirty="0"/>
              <a:t>Additional Data Sources:</a:t>
            </a:r>
            <a:endParaRPr lang="en-US" dirty="0"/>
          </a:p>
          <a:p>
            <a:pPr lvl="1"/>
            <a:r>
              <a:rPr lang="en-US" dirty="0"/>
              <a:t>Integrate maintenance history, accident reports, and ownership records</a:t>
            </a:r>
          </a:p>
          <a:p>
            <a:pPr lvl="1"/>
            <a:r>
              <a:rPr lang="en-US" dirty="0"/>
              <a:t>Add manufacturer reliability ratings and consumer satisfaction data</a:t>
            </a:r>
          </a:p>
          <a:p>
            <a:r>
              <a:rPr lang="en-US" b="1" dirty="0"/>
              <a:t>What </a:t>
            </a:r>
            <a:r>
              <a:rPr lang="en-US" b="1"/>
              <a:t>i </a:t>
            </a:r>
            <a:r>
              <a:rPr lang="en-US" b="1" dirty="0"/>
              <a:t>Would Do Differently:</a:t>
            </a:r>
            <a:endParaRPr lang="en-US" dirty="0"/>
          </a:p>
          <a:p>
            <a:r>
              <a:rPr lang="en-US" dirty="0"/>
              <a:t>Collect more structured condition data with standardized appraisal criteria</a:t>
            </a:r>
          </a:p>
          <a:p>
            <a:r>
              <a:rPr lang="en-US" dirty="0"/>
              <a:t>Gather more detailed vehicle history and maintenance records</a:t>
            </a:r>
          </a:p>
          <a:p>
            <a:r>
              <a:rPr lang="en-US" dirty="0"/>
              <a:t>Implement real-time data streaming for current market prices rather than snapshot data</a:t>
            </a:r>
          </a:p>
        </p:txBody>
      </p:sp>
    </p:spTree>
    <p:extLst>
      <p:ext uri="{BB962C8B-B14F-4D97-AF65-F5344CB8AC3E}">
        <p14:creationId xmlns:p14="http://schemas.microsoft.com/office/powerpoint/2010/main" val="3727499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Torrodjae Somerville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32387</TotalTime>
  <Words>2794</Words>
  <Application>Microsoft Office PowerPoint</Application>
  <PresentationFormat>Widescreen</PresentationFormat>
  <Paragraphs>201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Gill Sans MT</vt:lpstr>
      <vt:lpstr>Times New Roman</vt:lpstr>
      <vt:lpstr>Wingdings 2</vt:lpstr>
      <vt:lpstr>Custom</vt:lpstr>
      <vt:lpstr>DATA-Driven Pricing: Promoting Fairness in the Used car market</vt:lpstr>
      <vt:lpstr>Introduction</vt:lpstr>
      <vt:lpstr>Data ingestion - overview</vt:lpstr>
      <vt:lpstr>The raw data</vt:lpstr>
      <vt:lpstr>Focusing the dataset for analysis</vt:lpstr>
      <vt:lpstr>Data wrangling – my cleaning </vt:lpstr>
      <vt:lpstr>Key data features</vt:lpstr>
      <vt:lpstr>The Final product</vt:lpstr>
      <vt:lpstr>Summary Statistics: Showing my data</vt:lpstr>
      <vt:lpstr>The analytic dataset and cleaning</vt:lpstr>
      <vt:lpstr>Feature Engineering</vt:lpstr>
      <vt:lpstr>Feature engineering cont.</vt:lpstr>
      <vt:lpstr>Feature Engineering - Price Categories (Edmunds)</vt:lpstr>
      <vt:lpstr>Finding #2 - The Core Relationships</vt:lpstr>
      <vt:lpstr>Finding #3 - The Typical Market Landscape</vt:lpstr>
      <vt:lpstr>Finding #4: Condition modifies value</vt:lpstr>
      <vt:lpstr>Finding #5 Revealing Usage Patterns</vt:lpstr>
      <vt:lpstr>Finding #6: The High-Use Premium</vt:lpstr>
      <vt:lpstr>Value retainment</vt:lpstr>
      <vt:lpstr>Data Insights</vt:lpstr>
      <vt:lpstr>Proposed Data Product: The "FairPrice" Car Valuation Tool</vt:lpstr>
      <vt:lpstr>Challenges and Potential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Torrodjae D Somerville</dc:creator>
  <cp:lastModifiedBy>Torrodjae D Somerville</cp:lastModifiedBy>
  <cp:revision>15</cp:revision>
  <dcterms:created xsi:type="dcterms:W3CDTF">2025-09-13T19:36:27Z</dcterms:created>
  <dcterms:modified xsi:type="dcterms:W3CDTF">2025-10-09T00:22:56Z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